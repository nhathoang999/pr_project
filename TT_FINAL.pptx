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Faustina" charset="1" panose="00000500000000000000"/>
      <p:regular r:id="rId26"/>
    </p:embeddedFont>
    <p:embeddedFont>
      <p:font typeface="Asap" charset="1" panose="020F0504030202060203"/>
      <p:regular r:id="rId27"/>
    </p:embeddedFont>
    <p:embeddedFont>
      <p:font typeface="Asap Bold" charset="1" panose="020F0804030202060203"/>
      <p:regular r:id="rId28"/>
    </p:embeddedFont>
    <p:embeddedFont>
      <p:font typeface="Faustina Bold" charset="1" panose="0000080000000000000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5C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701455" y="-4467786"/>
            <a:ext cx="10808939" cy="17365434"/>
            <a:chOff x="0" y="0"/>
            <a:chExt cx="14411919" cy="23153912"/>
          </a:xfrm>
        </p:grpSpPr>
        <p:sp>
          <p:nvSpPr>
            <p:cNvPr name="Freeform 3" id="3"/>
            <p:cNvSpPr/>
            <p:nvPr/>
          </p:nvSpPr>
          <p:spPr>
            <a:xfrm flipH="false" flipV="false" rot="1788130">
              <a:off x="1908439" y="6798097"/>
              <a:ext cx="7850521" cy="9768748"/>
            </a:xfrm>
            <a:custGeom>
              <a:avLst/>
              <a:gdLst/>
              <a:ahLst/>
              <a:cxnLst/>
              <a:rect r="r" b="b" t="t" l="l"/>
              <a:pathLst>
                <a:path h="9768748" w="7850521">
                  <a:moveTo>
                    <a:pt x="0" y="0"/>
                  </a:moveTo>
                  <a:lnTo>
                    <a:pt x="7850521" y="0"/>
                  </a:lnTo>
                  <a:lnTo>
                    <a:pt x="7850521" y="9768749"/>
                  </a:lnTo>
                  <a:lnTo>
                    <a:pt x="0" y="97687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5528272">
              <a:off x="5459255" y="-779638"/>
              <a:ext cx="7850521" cy="9768748"/>
            </a:xfrm>
            <a:custGeom>
              <a:avLst/>
              <a:gdLst/>
              <a:ahLst/>
              <a:cxnLst/>
              <a:rect r="r" b="b" t="t" l="l"/>
              <a:pathLst>
                <a:path h="9768748" w="7850521">
                  <a:moveTo>
                    <a:pt x="0" y="0"/>
                  </a:moveTo>
                  <a:lnTo>
                    <a:pt x="7850521" y="0"/>
                  </a:lnTo>
                  <a:lnTo>
                    <a:pt x="7850521" y="9768749"/>
                  </a:lnTo>
                  <a:lnTo>
                    <a:pt x="0" y="97687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4973372" y="13385164"/>
              <a:ext cx="7850521" cy="9768748"/>
            </a:xfrm>
            <a:custGeom>
              <a:avLst/>
              <a:gdLst/>
              <a:ahLst/>
              <a:cxnLst/>
              <a:rect r="r" b="b" t="t" l="l"/>
              <a:pathLst>
                <a:path h="9768748" w="7850521">
                  <a:moveTo>
                    <a:pt x="0" y="0"/>
                  </a:moveTo>
                  <a:lnTo>
                    <a:pt x="7850521" y="0"/>
                  </a:lnTo>
                  <a:lnTo>
                    <a:pt x="7850521" y="9768748"/>
                  </a:lnTo>
                  <a:lnTo>
                    <a:pt x="0" y="97687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347980" y="-3592481"/>
            <a:ext cx="10808939" cy="17365434"/>
            <a:chOff x="0" y="0"/>
            <a:chExt cx="14411919" cy="23153912"/>
          </a:xfrm>
        </p:grpSpPr>
        <p:sp>
          <p:nvSpPr>
            <p:cNvPr name="Freeform 7" id="7"/>
            <p:cNvSpPr/>
            <p:nvPr/>
          </p:nvSpPr>
          <p:spPr>
            <a:xfrm flipH="false" flipV="false" rot="-9011869">
              <a:off x="4652959" y="6587067"/>
              <a:ext cx="7850521" cy="9768748"/>
            </a:xfrm>
            <a:custGeom>
              <a:avLst/>
              <a:gdLst/>
              <a:ahLst/>
              <a:cxnLst/>
              <a:rect r="r" b="b" t="t" l="l"/>
              <a:pathLst>
                <a:path h="9768748" w="7850521">
                  <a:moveTo>
                    <a:pt x="0" y="0"/>
                  </a:moveTo>
                  <a:lnTo>
                    <a:pt x="7850521" y="0"/>
                  </a:lnTo>
                  <a:lnTo>
                    <a:pt x="7850521" y="9768748"/>
                  </a:lnTo>
                  <a:lnTo>
                    <a:pt x="0" y="97687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-5271727">
              <a:off x="1102143" y="14164802"/>
              <a:ext cx="7850521" cy="9768748"/>
            </a:xfrm>
            <a:custGeom>
              <a:avLst/>
              <a:gdLst/>
              <a:ahLst/>
              <a:cxnLst/>
              <a:rect r="r" b="b" t="t" l="l"/>
              <a:pathLst>
                <a:path h="9768748" w="7850521">
                  <a:moveTo>
                    <a:pt x="0" y="0"/>
                  </a:moveTo>
                  <a:lnTo>
                    <a:pt x="7850521" y="0"/>
                  </a:lnTo>
                  <a:lnTo>
                    <a:pt x="7850521" y="9768748"/>
                  </a:lnTo>
                  <a:lnTo>
                    <a:pt x="0" y="97687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-10800000">
              <a:off x="1588026" y="0"/>
              <a:ext cx="7850521" cy="9768748"/>
            </a:xfrm>
            <a:custGeom>
              <a:avLst/>
              <a:gdLst/>
              <a:ahLst/>
              <a:cxnLst/>
              <a:rect r="r" b="b" t="t" l="l"/>
              <a:pathLst>
                <a:path h="9768748" w="7850521">
                  <a:moveTo>
                    <a:pt x="0" y="0"/>
                  </a:moveTo>
                  <a:lnTo>
                    <a:pt x="7850521" y="0"/>
                  </a:lnTo>
                  <a:lnTo>
                    <a:pt x="7850521" y="9768748"/>
                  </a:lnTo>
                  <a:lnTo>
                    <a:pt x="0" y="97687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5334643">
            <a:off x="-17633" y="64651"/>
            <a:ext cx="2538599" cy="2455517"/>
          </a:xfrm>
          <a:custGeom>
            <a:avLst/>
            <a:gdLst/>
            <a:ahLst/>
            <a:cxnLst/>
            <a:rect r="r" b="b" t="t" l="l"/>
            <a:pathLst>
              <a:path h="2455517" w="2538599">
                <a:moveTo>
                  <a:pt x="0" y="0"/>
                </a:moveTo>
                <a:lnTo>
                  <a:pt x="2538599" y="0"/>
                </a:lnTo>
                <a:lnTo>
                  <a:pt x="2538599" y="2455518"/>
                </a:lnTo>
                <a:lnTo>
                  <a:pt x="0" y="24555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15749401" y="0"/>
            <a:ext cx="2538599" cy="2455517"/>
          </a:xfrm>
          <a:custGeom>
            <a:avLst/>
            <a:gdLst/>
            <a:ahLst/>
            <a:cxnLst/>
            <a:rect r="r" b="b" t="t" l="l"/>
            <a:pathLst>
              <a:path h="2455517" w="2538599">
                <a:moveTo>
                  <a:pt x="0" y="0"/>
                </a:moveTo>
                <a:lnTo>
                  <a:pt x="2538599" y="0"/>
                </a:lnTo>
                <a:lnTo>
                  <a:pt x="2538599" y="2455517"/>
                </a:lnTo>
                <a:lnTo>
                  <a:pt x="0" y="24555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029327" y="2357722"/>
            <a:ext cx="10194080" cy="4986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79"/>
              </a:lnSpc>
            </a:pPr>
            <a:r>
              <a:rPr lang="en-US" sz="3999">
                <a:solidFill>
                  <a:srgbClr val="F6F6E9"/>
                </a:solidFill>
                <a:latin typeface="Faustina"/>
                <a:ea typeface="Faustina"/>
                <a:cs typeface="Faustina"/>
                <a:sym typeface="Faustina"/>
              </a:rPr>
              <a:t>Dự đoán tình trạng thành công (successful/unsuccessful) của các dự án crowdfund</a:t>
            </a:r>
            <a:r>
              <a:rPr lang="en-US" sz="3999" u="none">
                <a:solidFill>
                  <a:srgbClr val="F6F6E9"/>
                </a:solidFill>
                <a:latin typeface="Faustina"/>
                <a:ea typeface="Faustina"/>
                <a:cs typeface="Faustina"/>
                <a:sym typeface="Faustina"/>
              </a:rPr>
              <a:t>ing (gây quỹ cộng đồng) dựa trên các</a:t>
            </a:r>
            <a:r>
              <a:rPr lang="en-US" sz="3999" u="none">
                <a:solidFill>
                  <a:srgbClr val="F6F6E9"/>
                </a:solidFill>
                <a:latin typeface="Faustina"/>
                <a:ea typeface="Faustina"/>
                <a:cs typeface="Faustina"/>
                <a:sym typeface="Faustina"/>
              </a:rPr>
              <a:t> đặc điểm khác nhau </a:t>
            </a:r>
          </a:p>
          <a:p>
            <a:pPr algn="ctr" marL="0" indent="0" lvl="0">
              <a:lnSpc>
                <a:spcPts val="3745"/>
              </a:lnSpc>
            </a:pPr>
          </a:p>
          <a:p>
            <a:pPr algn="ctr" marL="0" indent="0" lvl="0">
              <a:lnSpc>
                <a:spcPts val="3745"/>
              </a:lnSpc>
            </a:pPr>
            <a:r>
              <a:rPr lang="en-US" sz="3500" u="none">
                <a:solidFill>
                  <a:srgbClr val="F6F6E9"/>
                </a:solidFill>
                <a:latin typeface="Faustina"/>
                <a:ea typeface="Faustina"/>
                <a:cs typeface="Faustina"/>
                <a:sym typeface="Faustina"/>
              </a:rPr>
              <a:t>Môn học: Nhận dạng mẫu</a:t>
            </a:r>
          </a:p>
          <a:p>
            <a:pPr algn="ctr" marL="0" indent="0" lvl="0">
              <a:lnSpc>
                <a:spcPts val="3745"/>
              </a:lnSpc>
            </a:pPr>
          </a:p>
          <a:p>
            <a:pPr algn="ctr" marL="0" indent="0" lvl="0">
              <a:lnSpc>
                <a:spcPts val="3745"/>
              </a:lnSpc>
            </a:pPr>
            <a:r>
              <a:rPr lang="en-US" sz="3500" u="none">
                <a:solidFill>
                  <a:srgbClr val="F6F6E9"/>
                </a:solidFill>
                <a:latin typeface="Faustina"/>
                <a:ea typeface="Faustina"/>
                <a:cs typeface="Faustina"/>
                <a:sym typeface="Faustina"/>
              </a:rPr>
              <a:t>GVHD: Nguyễn Thanh Chuyên</a:t>
            </a:r>
          </a:p>
          <a:p>
            <a:pPr algn="ctr" marL="0" indent="0" lvl="0">
              <a:lnSpc>
                <a:spcPts val="3745"/>
              </a:lnSpc>
            </a:pPr>
          </a:p>
          <a:p>
            <a:pPr algn="ctr" marL="0" indent="0" lvl="0">
              <a:lnSpc>
                <a:spcPts val="3745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56873" y="9363741"/>
            <a:ext cx="11901224" cy="459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Thành viên :  Huỳnh Nhật Hoàng(22667391) _ Hồ Minh Hưng (22666391)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76930"/>
            <a:ext cx="10393573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  <a:spcBef>
                <a:spcPct val="0"/>
              </a:spcBef>
            </a:pPr>
            <a:r>
              <a:rPr lang="en-US" sz="8000">
                <a:solidFill>
                  <a:srgbClr val="2E2E2E"/>
                </a:solidFill>
                <a:latin typeface="Faustina"/>
                <a:ea typeface="Faustina"/>
                <a:cs typeface="Faustina"/>
                <a:sym typeface="Faustina"/>
              </a:rPr>
              <a:t>1. Giới</a:t>
            </a:r>
            <a:r>
              <a:rPr lang="en-US" sz="8000">
                <a:solidFill>
                  <a:srgbClr val="2E2E2E"/>
                </a:solidFill>
                <a:latin typeface="Faustina"/>
                <a:ea typeface="Faustina"/>
                <a:cs typeface="Faustina"/>
                <a:sym typeface="Faustina"/>
              </a:rPr>
              <a:t> thiệu đề tài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958030"/>
            <a:ext cx="11786031" cy="721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3999">
                <a:solidFill>
                  <a:srgbClr val="2E2E2E"/>
                </a:solidFill>
                <a:latin typeface="Asap"/>
                <a:ea typeface="Asap"/>
                <a:cs typeface="Asap"/>
                <a:sym typeface="Asap"/>
              </a:rPr>
              <a:t> </a:t>
            </a:r>
          </a:p>
          <a:p>
            <a:pPr algn="l">
              <a:lnSpc>
                <a:spcPts val="5199"/>
              </a:lnSpc>
            </a:pPr>
            <a:r>
              <a:rPr lang="en-US" sz="3999" b="true">
                <a:solidFill>
                  <a:srgbClr val="2E2E2E"/>
                </a:solidFill>
                <a:latin typeface="Asap Bold"/>
                <a:ea typeface="Asap Bold"/>
                <a:cs typeface="Asap Bold"/>
                <a:sym typeface="Asap Bold"/>
              </a:rPr>
              <a:t>1.1 Lý do chọn đề tài:</a:t>
            </a:r>
          </a:p>
          <a:p>
            <a:pPr algn="l" marL="863599" indent="-431800" lvl="1">
              <a:lnSpc>
                <a:spcPts val="5199"/>
              </a:lnSpc>
              <a:buFont typeface="Arial"/>
              <a:buChar char="•"/>
            </a:pPr>
            <a:r>
              <a:rPr lang="en-US" sz="3999">
                <a:solidFill>
                  <a:srgbClr val="2E2E2E"/>
                </a:solidFill>
                <a:latin typeface="Asap"/>
                <a:ea typeface="Asap"/>
                <a:cs typeface="Asap"/>
                <a:sym typeface="Asap"/>
              </a:rPr>
              <a:t>Crowdfunding ngày càng phổ biến tại Thổ Nhĩ Kỳ nhưng tỷ lệ thành công thấp.</a:t>
            </a:r>
          </a:p>
          <a:p>
            <a:pPr algn="l" marL="863599" indent="-431800" lvl="1">
              <a:lnSpc>
                <a:spcPts val="5199"/>
              </a:lnSpc>
              <a:buFont typeface="Arial"/>
              <a:buChar char="•"/>
            </a:pPr>
            <a:r>
              <a:rPr lang="en-US" sz="3999">
                <a:solidFill>
                  <a:srgbClr val="2E2E2E"/>
                </a:solidFill>
                <a:latin typeface="Asap"/>
                <a:ea typeface="Asap"/>
                <a:cs typeface="Asap"/>
                <a:sym typeface="Asap"/>
              </a:rPr>
              <a:t>Cần phân tích các yếu tố ảnh hưởng để tối ưu hóa chiến dịch.</a:t>
            </a:r>
          </a:p>
          <a:p>
            <a:pPr algn="l">
              <a:lnSpc>
                <a:spcPts val="5199"/>
              </a:lnSpc>
            </a:pPr>
            <a:r>
              <a:rPr lang="en-US" sz="3999" b="true">
                <a:solidFill>
                  <a:srgbClr val="2E2E2E"/>
                </a:solidFill>
                <a:latin typeface="Asap Bold"/>
                <a:ea typeface="Asap Bold"/>
                <a:cs typeface="Asap Bold"/>
                <a:sym typeface="Asap Bold"/>
              </a:rPr>
              <a:t>1.2 </a:t>
            </a:r>
            <a:r>
              <a:rPr lang="en-US" sz="3999" b="true">
                <a:solidFill>
                  <a:srgbClr val="2E2E2E"/>
                </a:solidFill>
                <a:latin typeface="Asap Bold"/>
                <a:ea typeface="Asap Bold"/>
                <a:cs typeface="Asap Bold"/>
                <a:sym typeface="Asap Bold"/>
              </a:rPr>
              <a:t>Mục tiêu:</a:t>
            </a:r>
          </a:p>
          <a:p>
            <a:pPr algn="l" marL="863599" indent="-431800" lvl="1">
              <a:lnSpc>
                <a:spcPts val="5199"/>
              </a:lnSpc>
              <a:buFont typeface="Arial"/>
              <a:buChar char="•"/>
            </a:pPr>
            <a:r>
              <a:rPr lang="en-US" sz="3999">
                <a:solidFill>
                  <a:srgbClr val="2E2E2E"/>
                </a:solidFill>
                <a:latin typeface="Asap"/>
                <a:ea typeface="Asap"/>
                <a:cs typeface="Asap"/>
                <a:sym typeface="Asap"/>
              </a:rPr>
              <a:t>Phân tích yếu tố thành công (loại hình, giới tính chủ dự án, thời gian, mạng xã hội).</a:t>
            </a:r>
          </a:p>
          <a:p>
            <a:pPr algn="l" marL="863599" indent="-431800" lvl="1">
              <a:lnSpc>
                <a:spcPts val="5199"/>
              </a:lnSpc>
              <a:buFont typeface="Arial"/>
              <a:buChar char="•"/>
            </a:pPr>
            <a:r>
              <a:rPr lang="en-US" sz="3999">
                <a:solidFill>
                  <a:srgbClr val="2E2E2E"/>
                </a:solidFill>
                <a:latin typeface="Asap"/>
                <a:ea typeface="Asap"/>
                <a:cs typeface="Asap"/>
                <a:sym typeface="Asap"/>
              </a:rPr>
              <a:t>Xây dựng mô hình dự đoán tỷ lệ thành công.</a:t>
            </a:r>
          </a:p>
          <a:p>
            <a:pPr algn="l" marL="863599" indent="-431800" lvl="1">
              <a:lnSpc>
                <a:spcPts val="5199"/>
              </a:lnSpc>
              <a:buFont typeface="Arial"/>
              <a:buChar char="•"/>
            </a:pPr>
            <a:r>
              <a:rPr lang="en-US" sz="3999">
                <a:solidFill>
                  <a:srgbClr val="2E2E2E"/>
                </a:solidFill>
                <a:latin typeface="Asap"/>
                <a:ea typeface="Asap"/>
                <a:cs typeface="Asap"/>
                <a:sym typeface="Asap"/>
              </a:rPr>
              <a:t>Đề xuất chiến lược cải thiện.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400000">
            <a:off x="12761913" y="3303103"/>
            <a:ext cx="8367370" cy="3818563"/>
          </a:xfrm>
          <a:custGeom>
            <a:avLst/>
            <a:gdLst/>
            <a:ahLst/>
            <a:cxnLst/>
            <a:rect r="r" b="b" t="t" l="l"/>
            <a:pathLst>
              <a:path h="3818563" w="8367370">
                <a:moveTo>
                  <a:pt x="0" y="0"/>
                </a:moveTo>
                <a:lnTo>
                  <a:pt x="8367370" y="0"/>
                </a:lnTo>
                <a:lnTo>
                  <a:pt x="8367370" y="3818564"/>
                </a:lnTo>
                <a:lnTo>
                  <a:pt x="0" y="38185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19100"/>
            <a:ext cx="10393573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  <a:spcBef>
                <a:spcPct val="0"/>
              </a:spcBef>
            </a:pPr>
            <a:r>
              <a:rPr lang="en-US" sz="8000">
                <a:solidFill>
                  <a:srgbClr val="2E2E2E"/>
                </a:solidFill>
                <a:latin typeface="Faustina"/>
                <a:ea typeface="Faustina"/>
                <a:cs typeface="Faustina"/>
                <a:sym typeface="Faustina"/>
              </a:rPr>
              <a:t>1.Giới</a:t>
            </a:r>
            <a:r>
              <a:rPr lang="en-US" sz="8000">
                <a:solidFill>
                  <a:srgbClr val="2E2E2E"/>
                </a:solidFill>
                <a:latin typeface="Faustina"/>
                <a:ea typeface="Faustina"/>
                <a:cs typeface="Faustina"/>
                <a:sym typeface="Faustina"/>
              </a:rPr>
              <a:t> thiệu đề tài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962323"/>
            <a:ext cx="9887063" cy="9188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3999">
                <a:solidFill>
                  <a:srgbClr val="2E2E2E"/>
                </a:solidFill>
                <a:latin typeface="Asap"/>
                <a:ea typeface="Asap"/>
                <a:cs typeface="Asap"/>
                <a:sym typeface="Asap"/>
              </a:rPr>
              <a:t> </a:t>
            </a:r>
          </a:p>
          <a:p>
            <a:pPr algn="l">
              <a:lnSpc>
                <a:spcPts val="5199"/>
              </a:lnSpc>
            </a:pPr>
            <a:r>
              <a:rPr lang="en-US" sz="3999" b="true">
                <a:solidFill>
                  <a:srgbClr val="2E2E2E"/>
                </a:solidFill>
                <a:latin typeface="Asap Bold"/>
                <a:ea typeface="Asap Bold"/>
                <a:cs typeface="Asap Bold"/>
                <a:sym typeface="Asap Bold"/>
              </a:rPr>
              <a:t>1.3 Phạm vi:</a:t>
            </a:r>
            <a:r>
              <a:rPr lang="en-US" sz="3999">
                <a:solidFill>
                  <a:srgbClr val="2E2E2E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3999">
                <a:solidFill>
                  <a:srgbClr val="2E2E2E"/>
                </a:solidFill>
                <a:latin typeface="Asap"/>
                <a:ea typeface="Asap"/>
                <a:cs typeface="Asap"/>
                <a:sym typeface="Asap"/>
              </a:rPr>
              <a:t>Dữ</a:t>
            </a:r>
            <a:r>
              <a:rPr lang="en-US" sz="3999">
                <a:solidFill>
                  <a:srgbClr val="2E2E2E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3999">
                <a:solidFill>
                  <a:srgbClr val="2E2E2E"/>
                </a:solidFill>
                <a:latin typeface="Asap"/>
                <a:ea typeface="Asap"/>
                <a:cs typeface="Asap"/>
                <a:sym typeface="Asap"/>
              </a:rPr>
              <a:t>liệu</a:t>
            </a:r>
            <a:r>
              <a:rPr lang="en-US" sz="3999">
                <a:solidFill>
                  <a:srgbClr val="2E2E2E"/>
                </a:solidFill>
                <a:latin typeface="Asap"/>
                <a:ea typeface="Asap"/>
                <a:cs typeface="Asap"/>
                <a:sym typeface="Asap"/>
              </a:rPr>
              <a:t> t</a:t>
            </a:r>
            <a:r>
              <a:rPr lang="en-US" sz="3999">
                <a:solidFill>
                  <a:srgbClr val="2E2E2E"/>
                </a:solidFill>
                <a:latin typeface="Asap"/>
                <a:ea typeface="Asap"/>
                <a:cs typeface="Asap"/>
                <a:sym typeface="Asap"/>
              </a:rPr>
              <a:t>ừ các dự án c</a:t>
            </a:r>
            <a:r>
              <a:rPr lang="en-US" sz="3999">
                <a:solidFill>
                  <a:srgbClr val="2E2E2E"/>
                </a:solidFill>
                <a:latin typeface="Asap"/>
                <a:ea typeface="Asap"/>
                <a:cs typeface="Asap"/>
                <a:sym typeface="Asap"/>
              </a:rPr>
              <a:t>rowdfunding tại Thổ Nhĩ Kỳ.</a:t>
            </a:r>
          </a:p>
          <a:p>
            <a:pPr algn="l">
              <a:lnSpc>
                <a:spcPts val="5199"/>
              </a:lnSpc>
            </a:pPr>
            <a:r>
              <a:rPr lang="en-US" sz="3999" b="true">
                <a:solidFill>
                  <a:srgbClr val="2E2E2E"/>
                </a:solidFill>
                <a:latin typeface="Asap Bold"/>
                <a:ea typeface="Asap Bold"/>
                <a:cs typeface="Asap Bold"/>
                <a:sym typeface="Asap Bold"/>
              </a:rPr>
              <a:t>1.4 </a:t>
            </a:r>
            <a:r>
              <a:rPr lang="en-US" sz="3999" b="true">
                <a:solidFill>
                  <a:srgbClr val="2E2E2E"/>
                </a:solidFill>
                <a:latin typeface="Asap Bold"/>
                <a:ea typeface="Asap Bold"/>
                <a:cs typeface="Asap Bold"/>
                <a:sym typeface="Asap Bold"/>
              </a:rPr>
              <a:t>Phương pháp: </a:t>
            </a:r>
          </a:p>
          <a:p>
            <a:pPr algn="l" marL="863599" indent="-431800" lvl="1">
              <a:lnSpc>
                <a:spcPts val="5199"/>
              </a:lnSpc>
              <a:buFont typeface="Arial"/>
              <a:buChar char="•"/>
            </a:pPr>
            <a:r>
              <a:rPr lang="en-US" sz="3999">
                <a:solidFill>
                  <a:srgbClr val="2E2E2E"/>
                </a:solidFill>
                <a:latin typeface="Asap"/>
                <a:ea typeface="Asap"/>
                <a:cs typeface="Asap"/>
                <a:sym typeface="Asap"/>
              </a:rPr>
              <a:t>Thu thập dữ liệu</a:t>
            </a:r>
          </a:p>
          <a:p>
            <a:pPr algn="l" marL="863599" indent="-431800" lvl="1">
              <a:lnSpc>
                <a:spcPts val="5199"/>
              </a:lnSpc>
              <a:buFont typeface="Arial"/>
              <a:buChar char="•"/>
            </a:pPr>
            <a:r>
              <a:rPr lang="en-US" sz="3999">
                <a:solidFill>
                  <a:srgbClr val="2E2E2E"/>
                </a:solidFill>
                <a:latin typeface="Asap"/>
                <a:ea typeface="Asap"/>
                <a:cs typeface="Asap"/>
                <a:sym typeface="Asap"/>
              </a:rPr>
              <a:t>Xử lý và phân tích dữ liệu</a:t>
            </a:r>
          </a:p>
          <a:p>
            <a:pPr algn="l" marL="863599" indent="-431800" lvl="1">
              <a:lnSpc>
                <a:spcPts val="5199"/>
              </a:lnSpc>
              <a:buFont typeface="Arial"/>
              <a:buChar char="•"/>
            </a:pPr>
            <a:r>
              <a:rPr lang="en-US" sz="3999">
                <a:solidFill>
                  <a:srgbClr val="2E2E2E"/>
                </a:solidFill>
                <a:latin typeface="Asap"/>
                <a:ea typeface="Asap"/>
                <a:cs typeface="Asap"/>
                <a:sym typeface="Asap"/>
              </a:rPr>
              <a:t>Xây dựng mô hình CatBoost</a:t>
            </a:r>
          </a:p>
          <a:p>
            <a:pPr algn="l" marL="863599" indent="-431800" lvl="1">
              <a:lnSpc>
                <a:spcPts val="5199"/>
              </a:lnSpc>
              <a:buFont typeface="Arial"/>
              <a:buChar char="•"/>
            </a:pPr>
            <a:r>
              <a:rPr lang="en-US" sz="3999">
                <a:solidFill>
                  <a:srgbClr val="2E2E2E"/>
                </a:solidFill>
                <a:latin typeface="Asap"/>
                <a:ea typeface="Asap"/>
                <a:cs typeface="Asap"/>
                <a:sym typeface="Asap"/>
              </a:rPr>
              <a:t>Đánh giá và trực quan hóa</a:t>
            </a:r>
          </a:p>
          <a:p>
            <a:pPr algn="l">
              <a:lnSpc>
                <a:spcPts val="5199"/>
              </a:lnSpc>
            </a:pPr>
          </a:p>
          <a:p>
            <a:pPr algn="l">
              <a:lnSpc>
                <a:spcPts val="5199"/>
              </a:lnSpc>
            </a:pPr>
          </a:p>
          <a:p>
            <a:pPr algn="l">
              <a:lnSpc>
                <a:spcPts val="5199"/>
              </a:lnSpc>
            </a:pPr>
          </a:p>
          <a:p>
            <a:pPr algn="l">
              <a:lnSpc>
                <a:spcPts val="5199"/>
              </a:lnSpc>
            </a:pPr>
          </a:p>
          <a:p>
            <a:pPr algn="l">
              <a:lnSpc>
                <a:spcPts val="5199"/>
              </a:lnSpc>
            </a:pPr>
          </a:p>
          <a:p>
            <a:pPr algn="l">
              <a:lnSpc>
                <a:spcPts val="5199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-5400000">
            <a:off x="12761913" y="3303103"/>
            <a:ext cx="8367370" cy="3818563"/>
          </a:xfrm>
          <a:custGeom>
            <a:avLst/>
            <a:gdLst/>
            <a:ahLst/>
            <a:cxnLst/>
            <a:rect r="r" b="b" t="t" l="l"/>
            <a:pathLst>
              <a:path h="3818563" w="8367370">
                <a:moveTo>
                  <a:pt x="0" y="0"/>
                </a:moveTo>
                <a:lnTo>
                  <a:pt x="8367370" y="0"/>
                </a:lnTo>
                <a:lnTo>
                  <a:pt x="8367370" y="3818564"/>
                </a:lnTo>
                <a:lnTo>
                  <a:pt x="0" y="38185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5C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21915"/>
            <a:ext cx="10863725" cy="2952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48"/>
              </a:lnSpc>
              <a:spcBef>
                <a:spcPct val="0"/>
              </a:spcBef>
            </a:pPr>
            <a:r>
              <a:rPr lang="en-US" sz="6457">
                <a:solidFill>
                  <a:srgbClr val="F6F6E9"/>
                </a:solidFill>
                <a:latin typeface="Faustina"/>
                <a:ea typeface="Faustina"/>
                <a:cs typeface="Faustina"/>
                <a:sym typeface="Faustina"/>
              </a:rPr>
              <a:t>2. K</a:t>
            </a:r>
            <a:r>
              <a:rPr lang="en-US" sz="6457">
                <a:solidFill>
                  <a:srgbClr val="F6F6E9"/>
                </a:solidFill>
                <a:latin typeface="Faustina"/>
                <a:ea typeface="Faustina"/>
                <a:cs typeface="Faustina"/>
                <a:sym typeface="Faustina"/>
              </a:rPr>
              <a:t>hái quát về bộ dữ liệu "turkishCF.csv"</a:t>
            </a:r>
          </a:p>
          <a:p>
            <a:pPr algn="l" marL="0" indent="0" lvl="0">
              <a:lnSpc>
                <a:spcPts val="7748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735173" y="2116711"/>
            <a:ext cx="17815985" cy="831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3000" b="true">
                <a:solidFill>
                  <a:srgbClr val="F6F6E9"/>
                </a:solidFill>
                <a:latin typeface="Asap Bold"/>
                <a:ea typeface="Asap Bold"/>
                <a:cs typeface="Asap Bold"/>
                <a:sym typeface="Asap Bold"/>
              </a:rPr>
              <a:t>2.1 Thông tin chung:</a:t>
            </a:r>
          </a:p>
          <a:p>
            <a:pPr algn="l" marL="647700" indent="-323850" lvl="1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F6F6E9"/>
                </a:solidFill>
                <a:latin typeface="Asap"/>
                <a:ea typeface="Asap"/>
                <a:cs typeface="Asap"/>
                <a:sym typeface="Asap"/>
              </a:rPr>
              <a:t>1,628 dự án, 38 đặc trưng, thu thập năm 2022 từ 6 nền tảng gây quỹ khác nhau.</a:t>
            </a:r>
          </a:p>
          <a:p>
            <a:pPr algn="l" marL="647700" indent="-323850" lvl="1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F6F6E9"/>
                </a:solidFill>
                <a:latin typeface="Asap"/>
                <a:ea typeface="Asap"/>
                <a:cs typeface="Asap"/>
                <a:sym typeface="Asap"/>
              </a:rPr>
              <a:t>Ứng dụng: Học máy (phân loại, hồi quy), NLP.</a:t>
            </a:r>
          </a:p>
          <a:p>
            <a:pPr algn="l">
              <a:lnSpc>
                <a:spcPts val="6000"/>
              </a:lnSpc>
            </a:pPr>
            <a:r>
              <a:rPr lang="en-US" sz="3000" b="true">
                <a:solidFill>
                  <a:srgbClr val="F6F6E9"/>
                </a:solidFill>
                <a:latin typeface="Asap Bold"/>
                <a:ea typeface="Asap Bold"/>
                <a:cs typeface="Asap Bold"/>
                <a:sym typeface="Asap Bold"/>
              </a:rPr>
              <a:t>2.2 Thuộc tính tiêu biểu:</a:t>
            </a:r>
          </a:p>
          <a:p>
            <a:pPr algn="l" marL="647700" indent="-323850" lvl="1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F6F6E9"/>
                </a:solidFill>
                <a:latin typeface="Asap"/>
                <a:ea typeface="Asap"/>
                <a:cs typeface="Asap"/>
                <a:sym typeface="Asap"/>
              </a:rPr>
              <a:t>Thông tin dự án: ID, nền tảng, loại hình, danh mục, phương thức gây quỹ.</a:t>
            </a:r>
          </a:p>
          <a:p>
            <a:pPr algn="l" marL="647700" indent="-323850" lvl="1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F6F6E9"/>
                </a:solidFill>
                <a:latin typeface="Asap"/>
                <a:ea typeface="Asap"/>
                <a:cs typeface="Asap"/>
                <a:sym typeface="Asap"/>
              </a:rPr>
              <a:t>Chi tiết dự án: Số người ủng hộ, số lượng phần thưởng, mục tiêu tài chính.</a:t>
            </a:r>
          </a:p>
          <a:p>
            <a:pPr algn="l" marL="647700" indent="-323850" lvl="1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F6F6E9"/>
                </a:solidFill>
                <a:latin typeface="Asap"/>
                <a:ea typeface="Asap"/>
                <a:cs typeface="Asap"/>
                <a:sym typeface="Asap"/>
              </a:rPr>
              <a:t>Thời gian: Ngày bắt đầu/kết thúc, thời lượng.</a:t>
            </a:r>
          </a:p>
          <a:p>
            <a:pPr algn="l" marL="647700" indent="-323850" lvl="1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F6F6E9"/>
                </a:solidFill>
                <a:latin typeface="Asap"/>
                <a:ea typeface="Asap"/>
                <a:cs typeface="Asap"/>
                <a:sym typeface="Asap"/>
              </a:rPr>
              <a:t>Truyền thông: Video quảng bá, hình ảnh, mạng xã hội.</a:t>
            </a:r>
          </a:p>
          <a:p>
            <a:pPr algn="l">
              <a:lnSpc>
                <a:spcPts val="6000"/>
              </a:lnSpc>
            </a:pPr>
            <a:r>
              <a:rPr lang="en-US" sz="3000" b="true">
                <a:solidFill>
                  <a:srgbClr val="F6F6E9"/>
                </a:solidFill>
                <a:latin typeface="Asap Bold"/>
                <a:ea typeface="Asap Bold"/>
                <a:cs typeface="Asap Bold"/>
                <a:sym typeface="Asap Bold"/>
              </a:rPr>
              <a:t>2.3 Ứng dụng:</a:t>
            </a:r>
            <a:r>
              <a:rPr lang="en-US" sz="3000">
                <a:solidFill>
                  <a:srgbClr val="F6F6E9"/>
                </a:solidFill>
                <a:latin typeface="Asap"/>
                <a:ea typeface="Asap"/>
                <a:cs typeface="Asap"/>
                <a:sym typeface="Asap"/>
              </a:rPr>
              <a:t> Phân tích yếu tố thành công, dự đoán kết quả, tối ưu chiến dịch, nghiên cứu về hệ sinh thái.</a:t>
            </a:r>
          </a:p>
          <a:p>
            <a:pPr algn="l">
              <a:lnSpc>
                <a:spcPts val="6000"/>
              </a:lnSpc>
            </a:pPr>
            <a:r>
              <a:rPr lang="en-US" sz="3000" b="true">
                <a:solidFill>
                  <a:srgbClr val="F6F6E9"/>
                </a:solidFill>
                <a:latin typeface="Asap Bold"/>
                <a:ea typeface="Asap Bold"/>
                <a:cs typeface="Asap Bold"/>
                <a:sym typeface="Asap Bold"/>
              </a:rPr>
              <a:t>2.4 </a:t>
            </a:r>
            <a:r>
              <a:rPr lang="en-US" sz="3000" b="true">
                <a:solidFill>
                  <a:srgbClr val="F6F6E9"/>
                </a:solidFill>
                <a:latin typeface="Asap Bold"/>
                <a:ea typeface="Asap Bold"/>
                <a:cs typeface="Asap Bold"/>
                <a:sym typeface="Asap Bold"/>
              </a:rPr>
              <a:t>Điểm mạnh: </a:t>
            </a:r>
            <a:r>
              <a:rPr lang="en-US" sz="3000">
                <a:solidFill>
                  <a:srgbClr val="F6F6E9"/>
                </a:solidFill>
                <a:latin typeface="Asap"/>
                <a:ea typeface="Asap"/>
                <a:cs typeface="Asap"/>
                <a:sym typeface="Asap"/>
              </a:rPr>
              <a:t>Quy mô lớn, đa dạng đặc trưng (38 đặc trưng) , phù hợp cho nhiều tác vụ học máy.</a:t>
            </a:r>
          </a:p>
          <a:p>
            <a:pPr algn="l">
              <a:lnSpc>
                <a:spcPts val="6000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15123308" y="9734617"/>
            <a:ext cx="3164692" cy="552383"/>
          </a:xfrm>
          <a:custGeom>
            <a:avLst/>
            <a:gdLst/>
            <a:ahLst/>
            <a:cxnLst/>
            <a:rect r="r" b="b" t="t" l="l"/>
            <a:pathLst>
              <a:path h="552383" w="3164692">
                <a:moveTo>
                  <a:pt x="3164692" y="0"/>
                </a:moveTo>
                <a:lnTo>
                  <a:pt x="0" y="0"/>
                </a:lnTo>
                <a:lnTo>
                  <a:pt x="0" y="552383"/>
                </a:lnTo>
                <a:lnTo>
                  <a:pt x="3164692" y="552383"/>
                </a:lnTo>
                <a:lnTo>
                  <a:pt x="316469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5009217" y="401801"/>
            <a:ext cx="2834283" cy="2772445"/>
          </a:xfrm>
          <a:custGeom>
            <a:avLst/>
            <a:gdLst/>
            <a:ahLst/>
            <a:cxnLst/>
            <a:rect r="r" b="b" t="t" l="l"/>
            <a:pathLst>
              <a:path h="2772445" w="2834283">
                <a:moveTo>
                  <a:pt x="0" y="0"/>
                </a:moveTo>
                <a:lnTo>
                  <a:pt x="2834283" y="0"/>
                </a:lnTo>
                <a:lnTo>
                  <a:pt x="2834283" y="2772444"/>
                </a:lnTo>
                <a:lnTo>
                  <a:pt x="0" y="27724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5C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36008" y="673697"/>
            <a:ext cx="10863725" cy="196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48"/>
              </a:lnSpc>
            </a:pPr>
            <a:r>
              <a:rPr lang="en-US" sz="6457" b="true">
                <a:solidFill>
                  <a:srgbClr val="F6F6E9"/>
                </a:solidFill>
                <a:latin typeface="Faustina Bold"/>
                <a:ea typeface="Faustina Bold"/>
                <a:cs typeface="Faustina Bold"/>
                <a:sym typeface="Faustina Bold"/>
              </a:rPr>
              <a:t>3.Cơ sở lý thuyết và công nghệ</a:t>
            </a:r>
          </a:p>
          <a:p>
            <a:pPr algn="l" marL="0" indent="0" lvl="0">
              <a:lnSpc>
                <a:spcPts val="7748"/>
              </a:lnSpc>
              <a:spcBef>
                <a:spcPct val="0"/>
              </a:spcBef>
            </a:pPr>
          </a:p>
        </p:txBody>
      </p:sp>
      <p:sp>
        <p:nvSpPr>
          <p:cNvPr name="Freeform 3" id="3"/>
          <p:cNvSpPr/>
          <p:nvPr/>
        </p:nvSpPr>
        <p:spPr>
          <a:xfrm flipH="true" flipV="false" rot="0">
            <a:off x="15123308" y="9734617"/>
            <a:ext cx="3164692" cy="552383"/>
          </a:xfrm>
          <a:custGeom>
            <a:avLst/>
            <a:gdLst/>
            <a:ahLst/>
            <a:cxnLst/>
            <a:rect r="r" b="b" t="t" l="l"/>
            <a:pathLst>
              <a:path h="552383" w="3164692">
                <a:moveTo>
                  <a:pt x="3164692" y="0"/>
                </a:moveTo>
                <a:lnTo>
                  <a:pt x="0" y="0"/>
                </a:lnTo>
                <a:lnTo>
                  <a:pt x="0" y="552383"/>
                </a:lnTo>
                <a:lnTo>
                  <a:pt x="3164692" y="552383"/>
                </a:lnTo>
                <a:lnTo>
                  <a:pt x="316469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15009217" y="401801"/>
            <a:ext cx="2834283" cy="2772445"/>
          </a:xfrm>
          <a:custGeom>
            <a:avLst/>
            <a:gdLst/>
            <a:ahLst/>
            <a:cxnLst/>
            <a:rect r="r" b="b" t="t" l="l"/>
            <a:pathLst>
              <a:path h="2772445" w="2834283">
                <a:moveTo>
                  <a:pt x="0" y="0"/>
                </a:moveTo>
                <a:lnTo>
                  <a:pt x="2834283" y="0"/>
                </a:lnTo>
                <a:lnTo>
                  <a:pt x="2834283" y="2772444"/>
                </a:lnTo>
                <a:lnTo>
                  <a:pt x="0" y="27724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72015" y="1805928"/>
            <a:ext cx="17815985" cy="701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3500" b="true">
                <a:solidFill>
                  <a:srgbClr val="F6F6E9"/>
                </a:solidFill>
                <a:latin typeface="Asap Bold"/>
                <a:ea typeface="Asap Bold"/>
                <a:cs typeface="Asap Bold"/>
                <a:sym typeface="Asap Bold"/>
              </a:rPr>
              <a:t>3.1 Cơ sở lý thuyết:</a:t>
            </a:r>
          </a:p>
          <a:p>
            <a:pPr algn="l" marL="755651" indent="-377825" lvl="1">
              <a:lnSpc>
                <a:spcPts val="7000"/>
              </a:lnSpc>
              <a:buFont typeface="Arial"/>
              <a:buChar char="•"/>
            </a:pPr>
            <a:r>
              <a:rPr lang="en-US" b="true" sz="3500">
                <a:solidFill>
                  <a:srgbClr val="F6F6E9"/>
                </a:solidFill>
                <a:latin typeface="Asap Bold"/>
                <a:ea typeface="Asap Bold"/>
                <a:cs typeface="Asap Bold"/>
                <a:sym typeface="Asap Bold"/>
              </a:rPr>
              <a:t>NLP: Trích xuất thông tin từ mô tả, tên dự án.</a:t>
            </a:r>
          </a:p>
          <a:p>
            <a:pPr algn="l" marL="755651" indent="-377825" lvl="1">
              <a:lnSpc>
                <a:spcPts val="7000"/>
              </a:lnSpc>
              <a:buFont typeface="Arial"/>
              <a:buChar char="•"/>
            </a:pPr>
            <a:r>
              <a:rPr lang="en-US" b="true" sz="3500">
                <a:solidFill>
                  <a:srgbClr val="F6F6E9"/>
                </a:solidFill>
                <a:latin typeface="Asap Bold"/>
                <a:ea typeface="Asap Bold"/>
                <a:cs typeface="Asap Bold"/>
                <a:sym typeface="Asap Bold"/>
              </a:rPr>
              <a:t>Machine Learning: Phân loại nhị phân.</a:t>
            </a:r>
          </a:p>
          <a:p>
            <a:pPr algn="l" marL="755651" indent="-377825" lvl="1">
              <a:lnSpc>
                <a:spcPts val="7000"/>
              </a:lnSpc>
              <a:buFont typeface="Arial"/>
              <a:buChar char="•"/>
            </a:pPr>
            <a:r>
              <a:rPr lang="en-US" b="true" sz="3500">
                <a:solidFill>
                  <a:srgbClr val="F6F6E9"/>
                </a:solidFill>
                <a:latin typeface="Asap Bold"/>
                <a:ea typeface="Asap Bold"/>
                <a:cs typeface="Asap Bold"/>
                <a:sym typeface="Asap Bold"/>
              </a:rPr>
              <a:t>BERT: Hiểu ngữ cảnh văn bản qua kiến trúc attention.</a:t>
            </a:r>
          </a:p>
          <a:p>
            <a:pPr algn="l" marL="755651" indent="-377825" lvl="1">
              <a:lnSpc>
                <a:spcPts val="7000"/>
              </a:lnSpc>
              <a:buFont typeface="Arial"/>
              <a:buChar char="•"/>
            </a:pPr>
            <a:r>
              <a:rPr lang="en-US" b="true" sz="3500">
                <a:solidFill>
                  <a:srgbClr val="F6F6E9"/>
                </a:solidFill>
                <a:latin typeface="Asap Bold"/>
                <a:ea typeface="Asap Bold"/>
                <a:cs typeface="Asap Bold"/>
                <a:sym typeface="Asap Bold"/>
              </a:rPr>
              <a:t>CatBoo</a:t>
            </a:r>
            <a:r>
              <a:rPr lang="en-US" b="true" sz="3500">
                <a:solidFill>
                  <a:srgbClr val="F6F6E9"/>
                </a:solidFill>
                <a:latin typeface="Asap Bold"/>
                <a:ea typeface="Asap Bold"/>
                <a:cs typeface="Asap Bold"/>
                <a:sym typeface="Asap Bold"/>
              </a:rPr>
              <a:t>st: Mô hình boosting hiệu quả cho dữ liệu phân loại.</a:t>
            </a:r>
          </a:p>
          <a:p>
            <a:pPr algn="l" marL="755651" indent="-377825" lvl="1">
              <a:lnSpc>
                <a:spcPts val="7000"/>
              </a:lnSpc>
              <a:buFont typeface="Arial"/>
              <a:buChar char="•"/>
            </a:pPr>
            <a:r>
              <a:rPr lang="en-US" b="true" sz="3500">
                <a:solidFill>
                  <a:srgbClr val="F6F6E9"/>
                </a:solidFill>
                <a:latin typeface="Asap Bold"/>
                <a:ea typeface="Asap Bold"/>
                <a:cs typeface="Asap Bold"/>
                <a:sym typeface="Asap Bold"/>
              </a:rPr>
              <a:t>SHAP: Giải thích mô hình</a:t>
            </a:r>
          </a:p>
          <a:p>
            <a:pPr algn="l">
              <a:lnSpc>
                <a:spcPts val="7000"/>
              </a:lnSpc>
            </a:pPr>
          </a:p>
          <a:p>
            <a:pPr algn="l">
              <a:lnSpc>
                <a:spcPts val="700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7072" y="1510055"/>
            <a:ext cx="15960968" cy="6251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53"/>
              </a:lnSpc>
            </a:pPr>
            <a:r>
              <a:rPr lang="en-US" sz="5127">
                <a:solidFill>
                  <a:srgbClr val="2E2E2E"/>
                </a:solidFill>
                <a:latin typeface="Faustina"/>
                <a:ea typeface="Faustina"/>
                <a:cs typeface="Faustina"/>
                <a:sym typeface="Faustina"/>
              </a:rPr>
              <a:t>3.2 Công nghệ sử dụng:</a:t>
            </a:r>
          </a:p>
          <a:p>
            <a:pPr algn="l" marL="1107032" indent="-553516" lvl="1">
              <a:lnSpc>
                <a:spcPts val="6153"/>
              </a:lnSpc>
              <a:buFont typeface="Arial"/>
              <a:buChar char="•"/>
            </a:pPr>
            <a:r>
              <a:rPr lang="en-US" sz="5127">
                <a:solidFill>
                  <a:srgbClr val="2E2E2E"/>
                </a:solidFill>
                <a:latin typeface="Faustina"/>
                <a:ea typeface="Faustina"/>
                <a:cs typeface="Faustina"/>
                <a:sym typeface="Faustina"/>
              </a:rPr>
              <a:t>Python: Ngôn ngữ chính xử lý và xây dựng mô hình.</a:t>
            </a:r>
          </a:p>
          <a:p>
            <a:pPr algn="l" marL="1107032" indent="-553516" lvl="1">
              <a:lnSpc>
                <a:spcPts val="6153"/>
              </a:lnSpc>
              <a:buFont typeface="Arial"/>
              <a:buChar char="•"/>
            </a:pPr>
            <a:r>
              <a:rPr lang="en-US" sz="5127">
                <a:solidFill>
                  <a:srgbClr val="2E2E2E"/>
                </a:solidFill>
                <a:latin typeface="Faustina"/>
                <a:ea typeface="Faustina"/>
                <a:cs typeface="Faustina"/>
                <a:sym typeface="Faustina"/>
              </a:rPr>
              <a:t>HuggingFace Transformers: Triển khai BERT để tạo embedding.</a:t>
            </a:r>
          </a:p>
          <a:p>
            <a:pPr algn="l" marL="1107032" indent="-553516" lvl="1">
              <a:lnSpc>
                <a:spcPts val="6153"/>
              </a:lnSpc>
              <a:buFont typeface="Arial"/>
              <a:buChar char="•"/>
            </a:pPr>
            <a:r>
              <a:rPr lang="en-US" sz="5127">
                <a:solidFill>
                  <a:srgbClr val="2E2E2E"/>
                </a:solidFill>
                <a:latin typeface="Faustina"/>
                <a:ea typeface="Faustina"/>
                <a:cs typeface="Faustina"/>
                <a:sym typeface="Faustina"/>
              </a:rPr>
              <a:t>Pandas, NumPy: Xử lý dữ liệu.</a:t>
            </a:r>
          </a:p>
          <a:p>
            <a:pPr algn="l" marL="1107032" indent="-553516" lvl="1">
              <a:lnSpc>
                <a:spcPts val="6153"/>
              </a:lnSpc>
              <a:buFont typeface="Arial"/>
              <a:buChar char="•"/>
            </a:pPr>
            <a:r>
              <a:rPr lang="en-US" sz="5127">
                <a:solidFill>
                  <a:srgbClr val="2E2E2E"/>
                </a:solidFill>
                <a:latin typeface="Faustina"/>
                <a:ea typeface="Faustina"/>
                <a:cs typeface="Faustina"/>
                <a:sym typeface="Faustina"/>
              </a:rPr>
              <a:t>CatBoost: Thuật toán chính dùng cho mô hình dự đoán.</a:t>
            </a:r>
          </a:p>
          <a:p>
            <a:pPr algn="l" marL="1107032" indent="-553516" lvl="1">
              <a:lnSpc>
                <a:spcPts val="6153"/>
              </a:lnSpc>
              <a:buFont typeface="Arial"/>
              <a:buChar char="•"/>
            </a:pPr>
            <a:r>
              <a:rPr lang="en-US" sz="5127">
                <a:solidFill>
                  <a:srgbClr val="2E2E2E"/>
                </a:solidFill>
                <a:latin typeface="Faustina"/>
                <a:ea typeface="Faustina"/>
                <a:cs typeface="Faustina"/>
                <a:sym typeface="Faustina"/>
              </a:rPr>
              <a:t>Matplotlib, Seaborn: Trực quan hóa kết quả.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5400000">
            <a:off x="13479617" y="3234218"/>
            <a:ext cx="8367370" cy="3818563"/>
          </a:xfrm>
          <a:custGeom>
            <a:avLst/>
            <a:gdLst/>
            <a:ahLst/>
            <a:cxnLst/>
            <a:rect r="r" b="b" t="t" l="l"/>
            <a:pathLst>
              <a:path h="3818563" w="8367370">
                <a:moveTo>
                  <a:pt x="0" y="0"/>
                </a:moveTo>
                <a:lnTo>
                  <a:pt x="8367370" y="0"/>
                </a:lnTo>
                <a:lnTo>
                  <a:pt x="8367370" y="3818564"/>
                </a:lnTo>
                <a:lnTo>
                  <a:pt x="0" y="38185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0996" y="104775"/>
            <a:ext cx="14007616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  <a:spcBef>
                <a:spcPct val="0"/>
              </a:spcBef>
            </a:pPr>
            <a:r>
              <a:rPr lang="en-US" b="true" sz="6000">
                <a:solidFill>
                  <a:srgbClr val="2E2E2E"/>
                </a:solidFill>
                <a:latin typeface="Faustina Bold"/>
                <a:ea typeface="Faustina Bold"/>
                <a:cs typeface="Faustina Bold"/>
                <a:sym typeface="Faustina Bold"/>
              </a:rPr>
              <a:t>4. Phương pháp thực hiện</a:t>
            </a:r>
          </a:p>
          <a:p>
            <a:pPr algn="l" marL="0" indent="0" lvl="0">
              <a:lnSpc>
                <a:spcPts val="7200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574154" y="1134141"/>
            <a:ext cx="15437309" cy="137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39"/>
              </a:lnSpc>
            </a:pPr>
            <a:r>
              <a:rPr lang="en-US" sz="3799" b="true">
                <a:solidFill>
                  <a:srgbClr val="2E2E2E"/>
                </a:solidFill>
                <a:latin typeface="Asap Bold"/>
                <a:ea typeface="Asap Bold"/>
                <a:cs typeface="Asap Bold"/>
                <a:sym typeface="Asap Bold"/>
              </a:rPr>
              <a:t>4.1 Các bước tiền xử lý dữ liệu:</a:t>
            </a:r>
          </a:p>
          <a:p>
            <a:pPr algn="l">
              <a:lnSpc>
                <a:spcPts val="4160"/>
              </a:lnSpc>
            </a:pPr>
            <a:r>
              <a:rPr lang="en-US" sz="3200" b="true">
                <a:solidFill>
                  <a:srgbClr val="2E2E2E"/>
                </a:solidFill>
                <a:latin typeface="Asap Bold"/>
                <a:ea typeface="Asap Bold"/>
                <a:cs typeface="Asap Bold"/>
                <a:sym typeface="Asap Bold"/>
              </a:rPr>
              <a:t>1. Đọc dữ liệu: </a:t>
            </a:r>
            <a:r>
              <a:rPr lang="en-US" sz="3200">
                <a:solidFill>
                  <a:srgbClr val="2E2E2E"/>
                </a:solidFill>
                <a:latin typeface="Asap"/>
                <a:ea typeface="Asap"/>
                <a:cs typeface="Asap"/>
                <a:sym typeface="Asap"/>
              </a:rPr>
              <a:t>Dữ liệu được đọc từ file turkishCF.csv </a:t>
            </a:r>
          </a:p>
          <a:p>
            <a:pPr algn="l">
              <a:lnSpc>
                <a:spcPts val="4160"/>
              </a:lnSpc>
            </a:pPr>
            <a:r>
              <a:rPr lang="en-US" sz="3200" b="true">
                <a:solidFill>
                  <a:srgbClr val="2E2E2E"/>
                </a:solidFill>
                <a:latin typeface="Asap Bold"/>
                <a:ea typeface="Asap Bold"/>
                <a:cs typeface="Asap Bold"/>
                <a:sym typeface="Asap Bold"/>
              </a:rPr>
              <a:t>2. Đổi tên các cột: </a:t>
            </a:r>
            <a:r>
              <a:rPr lang="en-US" sz="3200">
                <a:solidFill>
                  <a:srgbClr val="2E2E2E"/>
                </a:solidFill>
                <a:latin typeface="Asap"/>
                <a:ea typeface="Asap"/>
                <a:cs typeface="Asap"/>
                <a:sym typeface="Asap"/>
              </a:rPr>
              <a:t>Chuẩn hóa tên cột sang tiếng Anh </a:t>
            </a:r>
          </a:p>
          <a:p>
            <a:pPr algn="l">
              <a:lnSpc>
                <a:spcPts val="4160"/>
              </a:lnSpc>
            </a:pPr>
            <a:r>
              <a:rPr lang="en-US" sz="3200" b="true">
                <a:solidFill>
                  <a:srgbClr val="2E2E2E"/>
                </a:solidFill>
                <a:latin typeface="Asap Bold"/>
                <a:ea typeface="Asap Bold"/>
                <a:cs typeface="Asap Bold"/>
                <a:sym typeface="Asap Bold"/>
              </a:rPr>
              <a:t>3. Mã hóa các giá trị không chuẩn: </a:t>
            </a:r>
            <a:r>
              <a:rPr lang="en-US" sz="3200">
                <a:solidFill>
                  <a:srgbClr val="2E2E2E"/>
                </a:solidFill>
                <a:latin typeface="Asap"/>
                <a:ea typeface="Asap"/>
                <a:cs typeface="Asap"/>
                <a:sym typeface="Asap"/>
              </a:rPr>
              <a:t>Chuyển giá trị nhị phân (ví dụ: "yes"/"no" → 1/0) .</a:t>
            </a:r>
          </a:p>
          <a:p>
            <a:pPr algn="l">
              <a:lnSpc>
                <a:spcPts val="4160"/>
              </a:lnSpc>
            </a:pPr>
            <a:r>
              <a:rPr lang="en-US" sz="3200" b="true">
                <a:solidFill>
                  <a:srgbClr val="2E2E2E"/>
                </a:solidFill>
                <a:latin typeface="Asap Bold"/>
                <a:ea typeface="Asap Bold"/>
                <a:cs typeface="Asap Bold"/>
                <a:sym typeface="Asap Bold"/>
              </a:rPr>
              <a:t>4. Chuyển đổi dữ liệu thời gian: </a:t>
            </a:r>
            <a:r>
              <a:rPr lang="en-US" sz="3200">
                <a:solidFill>
                  <a:srgbClr val="2E2E2E"/>
                </a:solidFill>
                <a:latin typeface="Asap"/>
                <a:ea typeface="Asap"/>
                <a:cs typeface="Asap"/>
                <a:sym typeface="Asap"/>
              </a:rPr>
              <a:t>Các cột ngày  tháng được chuyển sang định dạng datetime.</a:t>
            </a:r>
          </a:p>
          <a:p>
            <a:pPr algn="l">
              <a:lnSpc>
                <a:spcPts val="4160"/>
              </a:lnSpc>
            </a:pPr>
            <a:r>
              <a:rPr lang="en-US" sz="3200" b="true">
                <a:solidFill>
                  <a:srgbClr val="2E2E2E"/>
                </a:solidFill>
                <a:latin typeface="Asap Bold"/>
                <a:ea typeface="Asap Bold"/>
                <a:cs typeface="Asap Bold"/>
                <a:sym typeface="Asap Bold"/>
              </a:rPr>
              <a:t>5. Xử lý giá trị thiếu: </a:t>
            </a:r>
          </a:p>
          <a:p>
            <a:pPr algn="l" marL="690881" indent="-345440" lvl="1">
              <a:lnSpc>
                <a:spcPts val="4160"/>
              </a:lnSpc>
              <a:buFont typeface="Arial"/>
              <a:buChar char="•"/>
            </a:pPr>
            <a:r>
              <a:rPr lang="en-US" sz="3200">
                <a:solidFill>
                  <a:srgbClr val="2E2E2E"/>
                </a:solidFill>
                <a:latin typeface="Asap"/>
                <a:ea typeface="Asap"/>
                <a:cs typeface="Asap"/>
                <a:sym typeface="Asap"/>
              </a:rPr>
              <a:t>Điền giá trị thiếu trong cột region bằng giá trị phổ biến nhất (mode). </a:t>
            </a:r>
          </a:p>
          <a:p>
            <a:pPr algn="l" marL="690881" indent="-345440" lvl="1">
              <a:lnSpc>
                <a:spcPts val="4160"/>
              </a:lnSpc>
              <a:buFont typeface="Arial"/>
              <a:buChar char="•"/>
            </a:pPr>
            <a:r>
              <a:rPr lang="en-US" sz="3200">
                <a:solidFill>
                  <a:srgbClr val="2E2E2E"/>
                </a:solidFill>
                <a:latin typeface="Asap"/>
                <a:ea typeface="Asap"/>
                <a:cs typeface="Asap"/>
                <a:sym typeface="Asap"/>
              </a:rPr>
              <a:t>Các cột khác được điền giá trị thiếu bằng 0.</a:t>
            </a:r>
          </a:p>
          <a:p>
            <a:pPr algn="l">
              <a:lnSpc>
                <a:spcPts val="4160"/>
              </a:lnSpc>
            </a:pPr>
            <a:r>
              <a:rPr lang="en-US" sz="3200" b="true">
                <a:solidFill>
                  <a:srgbClr val="2E2E2E"/>
                </a:solidFill>
                <a:latin typeface="Asap Bold"/>
                <a:ea typeface="Asap Bold"/>
                <a:cs typeface="Asap Bold"/>
                <a:sym typeface="Asap Bold"/>
              </a:rPr>
              <a:t>6. Chuyển đổi các cột nhị phân: </a:t>
            </a:r>
            <a:r>
              <a:rPr lang="en-US" sz="3200">
                <a:solidFill>
                  <a:srgbClr val="2E2E2E"/>
                </a:solidFill>
                <a:latin typeface="Asap"/>
                <a:ea typeface="Asap"/>
                <a:cs typeface="Asap"/>
                <a:sym typeface="Asap"/>
              </a:rPr>
              <a:t>Các cột như promotion_video, website được chuyển thành giá trị số (1/0).</a:t>
            </a:r>
          </a:p>
          <a:p>
            <a:pPr algn="l">
              <a:lnSpc>
                <a:spcPts val="4160"/>
              </a:lnSpc>
            </a:pPr>
            <a:r>
              <a:rPr lang="en-US" sz="3200" b="true">
                <a:solidFill>
                  <a:srgbClr val="2E2E2E"/>
                </a:solidFill>
                <a:latin typeface="Asap Bold"/>
                <a:ea typeface="Asap Bold"/>
                <a:cs typeface="Asap Bold"/>
                <a:sym typeface="Asap Bold"/>
              </a:rPr>
              <a:t>7. Chuyển đổi các cột phân loại:</a:t>
            </a:r>
            <a:r>
              <a:rPr lang="en-US" sz="3200">
                <a:solidFill>
                  <a:srgbClr val="2E2E2E"/>
                </a:solidFill>
                <a:latin typeface="Asap"/>
                <a:ea typeface="Asap"/>
                <a:cs typeface="Asap"/>
                <a:sym typeface="Asap"/>
              </a:rPr>
              <a:t> Mã hóa cột phân loại (platform_name, crowdfunding_type, category, ...) bằng LabelEncoder.</a:t>
            </a:r>
          </a:p>
          <a:p>
            <a:pPr algn="l">
              <a:lnSpc>
                <a:spcPts val="4160"/>
              </a:lnSpc>
            </a:pPr>
            <a:r>
              <a:rPr lang="en-US" sz="3200" b="true">
                <a:solidFill>
                  <a:srgbClr val="2E2E2E"/>
                </a:solidFill>
                <a:latin typeface="Asap Bold"/>
                <a:ea typeface="Asap Bold"/>
                <a:cs typeface="Asap Bold"/>
                <a:sym typeface="Asap Bold"/>
              </a:rPr>
              <a:t>8. Loại bỏ các cột không cần thiết: </a:t>
            </a:r>
            <a:r>
              <a:rPr lang="en-US" sz="3200">
                <a:solidFill>
                  <a:srgbClr val="2E2E2E"/>
                </a:solidFill>
                <a:latin typeface="Asap"/>
                <a:ea typeface="Asap"/>
                <a:cs typeface="Asap"/>
                <a:sym typeface="Asap"/>
              </a:rPr>
              <a:t>Các cột như project_name, project_description bị loại bỏ do không cần thiết cho phân tích.</a:t>
            </a:r>
          </a:p>
          <a:p>
            <a:pPr algn="l">
              <a:lnSpc>
                <a:spcPts val="4160"/>
              </a:lnSpc>
            </a:pPr>
          </a:p>
          <a:p>
            <a:pPr algn="l">
              <a:lnSpc>
                <a:spcPts val="4160"/>
              </a:lnSpc>
            </a:pPr>
          </a:p>
          <a:p>
            <a:pPr algn="l">
              <a:lnSpc>
                <a:spcPts val="4160"/>
              </a:lnSpc>
            </a:pPr>
          </a:p>
          <a:p>
            <a:pPr algn="l">
              <a:lnSpc>
                <a:spcPts val="4160"/>
              </a:lnSpc>
            </a:pPr>
          </a:p>
          <a:p>
            <a:pPr algn="l">
              <a:lnSpc>
                <a:spcPts val="4160"/>
              </a:lnSpc>
            </a:pPr>
          </a:p>
          <a:p>
            <a:pPr algn="l">
              <a:lnSpc>
                <a:spcPts val="4160"/>
              </a:lnSpc>
            </a:pPr>
          </a:p>
          <a:p>
            <a:pPr algn="l">
              <a:lnSpc>
                <a:spcPts val="4160"/>
              </a:lnSpc>
            </a:pPr>
          </a:p>
          <a:p>
            <a:pPr algn="l">
              <a:lnSpc>
                <a:spcPts val="4160"/>
              </a:lnSpc>
            </a:pPr>
          </a:p>
          <a:p>
            <a:pPr algn="l">
              <a:lnSpc>
                <a:spcPts val="4160"/>
              </a:lnSpc>
            </a:pPr>
          </a:p>
          <a:p>
            <a:pPr algn="l">
              <a:lnSpc>
                <a:spcPts val="4160"/>
              </a:lnSpc>
            </a:pPr>
          </a:p>
          <a:p>
            <a:pPr algn="l">
              <a:lnSpc>
                <a:spcPts val="4160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-5400000">
            <a:off x="13479617" y="3234218"/>
            <a:ext cx="8367370" cy="3818563"/>
          </a:xfrm>
          <a:custGeom>
            <a:avLst/>
            <a:gdLst/>
            <a:ahLst/>
            <a:cxnLst/>
            <a:rect r="r" b="b" t="t" l="l"/>
            <a:pathLst>
              <a:path h="3818563" w="8367370">
                <a:moveTo>
                  <a:pt x="0" y="0"/>
                </a:moveTo>
                <a:lnTo>
                  <a:pt x="8367370" y="0"/>
                </a:lnTo>
                <a:lnTo>
                  <a:pt x="8367370" y="3818564"/>
                </a:lnTo>
                <a:lnTo>
                  <a:pt x="0" y="38185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4154" y="2172440"/>
            <a:ext cx="16416957" cy="7521069"/>
          </a:xfrm>
          <a:custGeom>
            <a:avLst/>
            <a:gdLst/>
            <a:ahLst/>
            <a:cxnLst/>
            <a:rect r="r" b="b" t="t" l="l"/>
            <a:pathLst>
              <a:path h="7521069" w="16416957">
                <a:moveTo>
                  <a:pt x="0" y="0"/>
                </a:moveTo>
                <a:lnTo>
                  <a:pt x="16416957" y="0"/>
                </a:lnTo>
                <a:lnTo>
                  <a:pt x="16416957" y="7521069"/>
                </a:lnTo>
                <a:lnTo>
                  <a:pt x="0" y="75210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454546" y="0"/>
            <a:ext cx="14012917" cy="196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48"/>
              </a:lnSpc>
              <a:spcBef>
                <a:spcPct val="0"/>
              </a:spcBef>
            </a:pPr>
            <a:r>
              <a:rPr lang="en-US" sz="6457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4.2</a:t>
            </a:r>
            <a:r>
              <a:rPr lang="en-US" sz="6457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EDA – phân tích đặc trưng</a:t>
            </a:r>
          </a:p>
          <a:p>
            <a:pPr algn="ctr">
              <a:lnSpc>
                <a:spcPts val="7748"/>
              </a:lnSpc>
              <a:spcBef>
                <a:spcPct val="0"/>
              </a:spcBef>
            </a:pPr>
            <a:r>
              <a:rPr lang="en-US" sz="6457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Phân tích các cột danh mục nhị phân: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65778" y="2420207"/>
            <a:ext cx="15762874" cy="7196945"/>
          </a:xfrm>
          <a:custGeom>
            <a:avLst/>
            <a:gdLst/>
            <a:ahLst/>
            <a:cxnLst/>
            <a:rect r="r" b="b" t="t" l="l"/>
            <a:pathLst>
              <a:path h="7196945" w="15762874">
                <a:moveTo>
                  <a:pt x="0" y="0"/>
                </a:moveTo>
                <a:lnTo>
                  <a:pt x="15762874" y="0"/>
                </a:lnTo>
                <a:lnTo>
                  <a:pt x="15762874" y="7196945"/>
                </a:lnTo>
                <a:lnTo>
                  <a:pt x="0" y="71969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-21260"/>
            <a:ext cx="15991347" cy="2943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48"/>
              </a:lnSpc>
            </a:pPr>
            <a:r>
              <a:rPr lang="en-US" sz="6457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So sánh mức độ huy động vốn với mục tiêu tài trợ theo loại hình Crowdfunding</a:t>
            </a:r>
          </a:p>
          <a:p>
            <a:pPr algn="ctr">
              <a:lnSpc>
                <a:spcPts val="774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67009" y="1291858"/>
            <a:ext cx="14271595" cy="8396742"/>
          </a:xfrm>
          <a:custGeom>
            <a:avLst/>
            <a:gdLst/>
            <a:ahLst/>
            <a:cxnLst/>
            <a:rect r="r" b="b" t="t" l="l"/>
            <a:pathLst>
              <a:path h="8396742" w="14271595">
                <a:moveTo>
                  <a:pt x="0" y="0"/>
                </a:moveTo>
                <a:lnTo>
                  <a:pt x="14271595" y="0"/>
                </a:lnTo>
                <a:lnTo>
                  <a:pt x="14271595" y="8396742"/>
                </a:lnTo>
                <a:lnTo>
                  <a:pt x="0" y="83967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988151" y="0"/>
            <a:ext cx="17091826" cy="196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48"/>
              </a:lnSpc>
            </a:pPr>
            <a:r>
              <a:rPr lang="en-US" sz="6457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Phân tích mức độ huy động vốn theo năm</a:t>
            </a:r>
          </a:p>
          <a:p>
            <a:pPr algn="ctr">
              <a:lnSpc>
                <a:spcPts val="774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09225" y="1265541"/>
            <a:ext cx="16550075" cy="8202721"/>
          </a:xfrm>
          <a:custGeom>
            <a:avLst/>
            <a:gdLst/>
            <a:ahLst/>
            <a:cxnLst/>
            <a:rect r="r" b="b" t="t" l="l"/>
            <a:pathLst>
              <a:path h="8202721" w="16550075">
                <a:moveTo>
                  <a:pt x="0" y="0"/>
                </a:moveTo>
                <a:lnTo>
                  <a:pt x="16550075" y="0"/>
                </a:lnTo>
                <a:lnTo>
                  <a:pt x="16550075" y="8202721"/>
                </a:lnTo>
                <a:lnTo>
                  <a:pt x="0" y="82027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1750648" y="38100"/>
            <a:ext cx="21469822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Phân tích sự khác biệt mức độ huy động vốn theo vùng</a:t>
            </a:r>
          </a:p>
          <a:p>
            <a:pPr algn="ctr">
              <a:lnSpc>
                <a:spcPts val="72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5C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8460" y="44590"/>
            <a:ext cx="13758465" cy="196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48"/>
              </a:lnSpc>
              <a:spcBef>
                <a:spcPct val="0"/>
              </a:spcBef>
            </a:pPr>
            <a:r>
              <a:rPr lang="en-US" sz="6457">
                <a:solidFill>
                  <a:srgbClr val="F6F6E9"/>
                </a:solidFill>
                <a:latin typeface="Faustina"/>
                <a:ea typeface="Faustina"/>
                <a:cs typeface="Faustina"/>
                <a:sym typeface="Faustina"/>
              </a:rPr>
              <a:t> 4.3 Sử</a:t>
            </a:r>
            <a:r>
              <a:rPr lang="en-US" sz="6457">
                <a:solidFill>
                  <a:srgbClr val="F6F6E9"/>
                </a:solidFill>
                <a:latin typeface="Faustina"/>
                <a:ea typeface="Faustina"/>
                <a:cs typeface="Faustina"/>
                <a:sym typeface="Faustina"/>
              </a:rPr>
              <a:t> dụng BERT để tạo Embedding</a:t>
            </a:r>
          </a:p>
          <a:p>
            <a:pPr algn="l" marL="0" indent="0" lvl="0">
              <a:lnSpc>
                <a:spcPts val="7748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687327" y="1069174"/>
            <a:ext cx="17815985" cy="797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99"/>
              </a:lnSpc>
            </a:pPr>
            <a:r>
              <a:rPr lang="en-US" sz="3999" b="true">
                <a:solidFill>
                  <a:srgbClr val="F6F6E9"/>
                </a:solidFill>
                <a:latin typeface="Asap Bold"/>
                <a:ea typeface="Asap Bold"/>
                <a:cs typeface="Asap Bold"/>
                <a:sym typeface="Asap Bold"/>
              </a:rPr>
              <a:t>Mục tiêu: </a:t>
            </a:r>
            <a:r>
              <a:rPr lang="en-US" sz="3999">
                <a:solidFill>
                  <a:srgbClr val="F6F6E9"/>
                </a:solidFill>
                <a:latin typeface="Asap"/>
                <a:ea typeface="Asap"/>
                <a:cs typeface="Asap"/>
                <a:sym typeface="Asap"/>
              </a:rPr>
              <a:t>Chuyển đổi văn bản (tên/mô tả dự án) thành vector đặc trưng.</a:t>
            </a:r>
          </a:p>
          <a:p>
            <a:pPr algn="l">
              <a:lnSpc>
                <a:spcPts val="7999"/>
              </a:lnSpc>
            </a:pPr>
            <a:r>
              <a:rPr lang="en-US" sz="3999" b="true">
                <a:solidFill>
                  <a:srgbClr val="F6F6E9"/>
                </a:solidFill>
                <a:latin typeface="Asap Bold"/>
                <a:ea typeface="Asap Bold"/>
                <a:cs typeface="Asap Bold"/>
                <a:sym typeface="Asap Bold"/>
              </a:rPr>
              <a:t>Quy trình:</a:t>
            </a:r>
          </a:p>
          <a:p>
            <a:pPr algn="l" marL="863599" indent="-431800" lvl="1">
              <a:lnSpc>
                <a:spcPts val="7999"/>
              </a:lnSpc>
              <a:buFont typeface="Arial"/>
              <a:buChar char="•"/>
            </a:pPr>
            <a:r>
              <a:rPr lang="en-US" sz="3999">
                <a:solidFill>
                  <a:srgbClr val="F6F6E9"/>
                </a:solidFill>
                <a:latin typeface="Asap"/>
                <a:ea typeface="Asap"/>
                <a:cs typeface="Asap"/>
                <a:sym typeface="Asap"/>
              </a:rPr>
              <a:t>Sử dụng mô hình BERT tiếng Thổ Nhĩ Kỳ từ SentenceTransformer.</a:t>
            </a:r>
          </a:p>
          <a:p>
            <a:pPr algn="l" marL="863599" indent="-431800" lvl="1">
              <a:lnSpc>
                <a:spcPts val="7999"/>
              </a:lnSpc>
              <a:buFont typeface="Arial"/>
              <a:buChar char="•"/>
            </a:pPr>
            <a:r>
              <a:rPr lang="en-US" sz="3999">
                <a:solidFill>
                  <a:srgbClr val="F6F6E9"/>
                </a:solidFill>
                <a:latin typeface="Asap"/>
                <a:ea typeface="Asap"/>
                <a:cs typeface="Asap"/>
                <a:sym typeface="Asap"/>
              </a:rPr>
              <a:t>Tạo embedding cho tên và mô tả dự án (128 chiều).</a:t>
            </a:r>
          </a:p>
          <a:p>
            <a:pPr algn="l" marL="863599" indent="-431800" lvl="1">
              <a:lnSpc>
                <a:spcPts val="7999"/>
              </a:lnSpc>
              <a:buFont typeface="Arial"/>
              <a:buChar char="•"/>
            </a:pPr>
            <a:r>
              <a:rPr lang="en-US" sz="3999">
                <a:solidFill>
                  <a:srgbClr val="F6F6E9"/>
                </a:solidFill>
                <a:latin typeface="Asap"/>
                <a:ea typeface="Asap"/>
                <a:cs typeface="Asap"/>
                <a:sym typeface="Asap"/>
              </a:rPr>
              <a:t>Thêm embedding vào DataFrame.</a:t>
            </a:r>
          </a:p>
          <a:p>
            <a:pPr algn="l" marL="863599" indent="-431800" lvl="1">
              <a:lnSpc>
                <a:spcPts val="7999"/>
              </a:lnSpc>
              <a:buFont typeface="Arial"/>
              <a:buChar char="•"/>
            </a:pPr>
            <a:r>
              <a:rPr lang="en-US" sz="3999">
                <a:solidFill>
                  <a:srgbClr val="F6F6E9"/>
                </a:solidFill>
                <a:latin typeface="Asap"/>
                <a:ea typeface="Asap"/>
                <a:cs typeface="Asap"/>
                <a:sym typeface="Asap"/>
              </a:rPr>
              <a:t>Xử lý Dữ liệu Thiếu</a:t>
            </a:r>
          </a:p>
          <a:p>
            <a:pPr algn="l">
              <a:lnSpc>
                <a:spcPts val="7999"/>
              </a:lnSpc>
            </a:pPr>
            <a:r>
              <a:rPr lang="en-US" sz="3999" b="true">
                <a:solidFill>
                  <a:srgbClr val="F6F6E9"/>
                </a:solidFill>
                <a:latin typeface="Asap Bold"/>
                <a:ea typeface="Asap Bold"/>
                <a:cs typeface="Asap Bold"/>
                <a:sym typeface="Asap Bold"/>
              </a:rPr>
              <a:t>Kết</a:t>
            </a:r>
            <a:r>
              <a:rPr lang="en-US" sz="3999" b="true">
                <a:solidFill>
                  <a:srgbClr val="F6F6E9"/>
                </a:solidFill>
                <a:latin typeface="Asap Bold"/>
                <a:ea typeface="Asap Bold"/>
                <a:cs typeface="Asap Bold"/>
                <a:sym typeface="Asap Bold"/>
              </a:rPr>
              <a:t> quả: </a:t>
            </a:r>
            <a:r>
              <a:rPr lang="en-US" sz="3999">
                <a:solidFill>
                  <a:srgbClr val="F6F6E9"/>
                </a:solidFill>
                <a:latin typeface="Asap"/>
                <a:ea typeface="Asap"/>
                <a:cs typeface="Asap"/>
                <a:sym typeface="Asap"/>
              </a:rPr>
              <a:t>Dữ liệu được bổ sung các cột embedding (nn_emb_name_, nn_emb_desc_).</a:t>
            </a: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15123308" y="9734617"/>
            <a:ext cx="3164692" cy="552383"/>
          </a:xfrm>
          <a:custGeom>
            <a:avLst/>
            <a:gdLst/>
            <a:ahLst/>
            <a:cxnLst/>
            <a:rect r="r" b="b" t="t" l="l"/>
            <a:pathLst>
              <a:path h="552383" w="3164692">
                <a:moveTo>
                  <a:pt x="3164692" y="0"/>
                </a:moveTo>
                <a:lnTo>
                  <a:pt x="0" y="0"/>
                </a:lnTo>
                <a:lnTo>
                  <a:pt x="0" y="552383"/>
                </a:lnTo>
                <a:lnTo>
                  <a:pt x="3164692" y="552383"/>
                </a:lnTo>
                <a:lnTo>
                  <a:pt x="316469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5009217" y="401801"/>
            <a:ext cx="2834283" cy="2772445"/>
          </a:xfrm>
          <a:custGeom>
            <a:avLst/>
            <a:gdLst/>
            <a:ahLst/>
            <a:cxnLst/>
            <a:rect r="r" b="b" t="t" l="l"/>
            <a:pathLst>
              <a:path h="2772445" w="2834283">
                <a:moveTo>
                  <a:pt x="0" y="0"/>
                </a:moveTo>
                <a:lnTo>
                  <a:pt x="2834283" y="0"/>
                </a:lnTo>
                <a:lnTo>
                  <a:pt x="2834283" y="2772444"/>
                </a:lnTo>
                <a:lnTo>
                  <a:pt x="0" y="27724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5C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8460" y="44590"/>
            <a:ext cx="13758465" cy="196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48"/>
              </a:lnSpc>
            </a:pPr>
            <a:r>
              <a:rPr lang="en-US" sz="6457">
                <a:solidFill>
                  <a:srgbClr val="F6F6E9"/>
                </a:solidFill>
                <a:latin typeface="Faustina"/>
                <a:ea typeface="Faustina"/>
                <a:cs typeface="Faustina"/>
                <a:sym typeface="Faustina"/>
              </a:rPr>
              <a:t>4.4 Phân loại mô hình</a:t>
            </a:r>
          </a:p>
          <a:p>
            <a:pPr algn="l" marL="0" indent="0" lvl="0">
              <a:lnSpc>
                <a:spcPts val="7748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472015" y="887163"/>
            <a:ext cx="17815985" cy="8847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0"/>
              </a:lnSpc>
            </a:pPr>
            <a:r>
              <a:rPr lang="en-US" sz="3200" b="true">
                <a:solidFill>
                  <a:srgbClr val="F6F6E9"/>
                </a:solidFill>
                <a:latin typeface="Asap Bold"/>
                <a:ea typeface="Asap Bold"/>
                <a:cs typeface="Asap Bold"/>
                <a:sym typeface="Asap Bold"/>
              </a:rPr>
              <a:t>Giới thiệu mô hình</a:t>
            </a:r>
          </a:p>
          <a:p>
            <a:pPr algn="l" marL="690881" indent="-345440" lvl="1">
              <a:lnSpc>
                <a:spcPts val="6400"/>
              </a:lnSpc>
              <a:buFont typeface="Arial"/>
              <a:buChar char="•"/>
            </a:pPr>
            <a:r>
              <a:rPr lang="en-US" sz="3200">
                <a:solidFill>
                  <a:srgbClr val="F6F6E9"/>
                </a:solidFill>
                <a:latin typeface="Asap"/>
                <a:ea typeface="Asap"/>
                <a:cs typeface="Asap"/>
                <a:sym typeface="Asap"/>
              </a:rPr>
              <a:t>Sử dụng mô hình CatBoost để phân loại dự án thành công / không thành công.</a:t>
            </a:r>
          </a:p>
          <a:p>
            <a:pPr algn="l" marL="690881" indent="-345440" lvl="1">
              <a:lnSpc>
                <a:spcPts val="6400"/>
              </a:lnSpc>
              <a:buFont typeface="Arial"/>
              <a:buChar char="•"/>
            </a:pPr>
            <a:r>
              <a:rPr lang="en-US" sz="3200">
                <a:solidFill>
                  <a:srgbClr val="F6F6E9"/>
                </a:solidFill>
                <a:latin typeface="Asap"/>
                <a:ea typeface="Asap"/>
                <a:cs typeface="Asap"/>
                <a:sym typeface="Asap"/>
              </a:rPr>
              <a:t>CatBoost xử lý tốt dữ liệu phân loại, không cần mã hóa one-hot, hiệu quả với tập dữ liệu có nhiều biến phân loại.</a:t>
            </a:r>
          </a:p>
          <a:p>
            <a:pPr algn="l">
              <a:lnSpc>
                <a:spcPts val="6400"/>
              </a:lnSpc>
            </a:pPr>
            <a:r>
              <a:rPr lang="en-US" sz="3200" b="true">
                <a:solidFill>
                  <a:srgbClr val="F6F6E9"/>
                </a:solidFill>
                <a:latin typeface="Asap Bold"/>
                <a:ea typeface="Asap Bold"/>
                <a:cs typeface="Asap Bold"/>
                <a:sym typeface="Asap Bold"/>
              </a:rPr>
              <a:t>Tham số mô hình (tối ưu bằng Optuna)</a:t>
            </a:r>
          </a:p>
          <a:p>
            <a:pPr algn="l" marL="690881" indent="-345440" lvl="1">
              <a:lnSpc>
                <a:spcPts val="6400"/>
              </a:lnSpc>
              <a:buFont typeface="Arial"/>
              <a:buChar char="•"/>
            </a:pPr>
            <a:r>
              <a:rPr lang="en-US" sz="3200">
                <a:solidFill>
                  <a:srgbClr val="F6F6E9"/>
                </a:solidFill>
                <a:latin typeface="Asap"/>
                <a:ea typeface="Asap"/>
                <a:cs typeface="Asap"/>
                <a:sym typeface="Asap"/>
              </a:rPr>
              <a:t>Iterations (828): đủ thời gian học, tránh overfitting.</a:t>
            </a:r>
          </a:p>
          <a:p>
            <a:pPr algn="l" marL="690881" indent="-345440" lvl="1">
              <a:lnSpc>
                <a:spcPts val="6400"/>
              </a:lnSpc>
              <a:buFont typeface="Arial"/>
              <a:buChar char="•"/>
            </a:pPr>
            <a:r>
              <a:rPr lang="en-US" sz="3200">
                <a:solidFill>
                  <a:srgbClr val="F6F6E9"/>
                </a:solidFill>
                <a:latin typeface="Asap"/>
                <a:ea typeface="Asap"/>
                <a:cs typeface="Asap"/>
                <a:sym typeface="Asap"/>
              </a:rPr>
              <a:t>Depth (): cân bằng giữa khả năng học và tránh overfitting.</a:t>
            </a:r>
          </a:p>
          <a:p>
            <a:pPr algn="l" marL="690881" indent="-345440" lvl="1">
              <a:lnSpc>
                <a:spcPts val="6400"/>
              </a:lnSpc>
              <a:buFont typeface="Arial"/>
              <a:buChar char="•"/>
            </a:pPr>
            <a:r>
              <a:rPr lang="en-US" sz="3200">
                <a:solidFill>
                  <a:srgbClr val="F6F6E9"/>
                </a:solidFill>
                <a:latin typeface="Asap"/>
                <a:ea typeface="Asap"/>
                <a:cs typeface="Asap"/>
                <a:sym typeface="Asap"/>
              </a:rPr>
              <a:t>Learning Rate (0.055): học ổn định, tránh vượt quá điểm tối ưu.</a:t>
            </a:r>
          </a:p>
          <a:p>
            <a:pPr algn="l" marL="690881" indent="-345440" lvl="1">
              <a:lnSpc>
                <a:spcPts val="6400"/>
              </a:lnSpc>
              <a:buFont typeface="Arial"/>
              <a:buChar char="•"/>
            </a:pPr>
            <a:r>
              <a:rPr lang="en-US" sz="3200">
                <a:solidFill>
                  <a:srgbClr val="F6F6E9"/>
                </a:solidFill>
                <a:latin typeface="Asap"/>
                <a:ea typeface="Asap"/>
                <a:cs typeface="Asap"/>
                <a:sym typeface="Asap"/>
              </a:rPr>
              <a:t>L2 Regularization (0.011): giảm độ phức tạp mô hình.</a:t>
            </a:r>
          </a:p>
          <a:p>
            <a:pPr algn="l" marL="690881" indent="-345440" lvl="1">
              <a:lnSpc>
                <a:spcPts val="6400"/>
              </a:lnSpc>
              <a:buFont typeface="Arial"/>
              <a:buChar char="•"/>
            </a:pPr>
            <a:r>
              <a:rPr lang="en-US" sz="3200">
                <a:solidFill>
                  <a:srgbClr val="F6F6E9"/>
                </a:solidFill>
                <a:latin typeface="Asap"/>
                <a:ea typeface="Asap"/>
                <a:cs typeface="Asap"/>
                <a:sym typeface="Asap"/>
              </a:rPr>
              <a:t>Border Count (232): phân chia đặc trưng hợp lý, tăng độ chính </a:t>
            </a:r>
          </a:p>
          <a:p>
            <a:pPr algn="l" marL="690881" indent="-345440" lvl="1">
              <a:lnSpc>
                <a:spcPts val="6400"/>
              </a:lnSpc>
              <a:buFont typeface="Arial"/>
              <a:buChar char="•"/>
            </a:pPr>
            <a:r>
              <a:rPr lang="en-US" sz="3200">
                <a:solidFill>
                  <a:srgbClr val="F6F6E9"/>
                </a:solidFill>
                <a:latin typeface="Asap"/>
                <a:ea typeface="Asap"/>
                <a:cs typeface="Asap"/>
                <a:sym typeface="Asap"/>
              </a:rPr>
              <a:t>xác.      </a:t>
            </a: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15123308" y="9734617"/>
            <a:ext cx="3164692" cy="552383"/>
          </a:xfrm>
          <a:custGeom>
            <a:avLst/>
            <a:gdLst/>
            <a:ahLst/>
            <a:cxnLst/>
            <a:rect r="r" b="b" t="t" l="l"/>
            <a:pathLst>
              <a:path h="552383" w="3164692">
                <a:moveTo>
                  <a:pt x="3164692" y="0"/>
                </a:moveTo>
                <a:lnTo>
                  <a:pt x="0" y="0"/>
                </a:lnTo>
                <a:lnTo>
                  <a:pt x="0" y="552383"/>
                </a:lnTo>
                <a:lnTo>
                  <a:pt x="3164692" y="552383"/>
                </a:lnTo>
                <a:lnTo>
                  <a:pt x="316469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5009217" y="401801"/>
            <a:ext cx="2834283" cy="2772445"/>
          </a:xfrm>
          <a:custGeom>
            <a:avLst/>
            <a:gdLst/>
            <a:ahLst/>
            <a:cxnLst/>
            <a:rect r="r" b="b" t="t" l="l"/>
            <a:pathLst>
              <a:path h="2772445" w="2834283">
                <a:moveTo>
                  <a:pt x="0" y="0"/>
                </a:moveTo>
                <a:lnTo>
                  <a:pt x="2834283" y="0"/>
                </a:lnTo>
                <a:lnTo>
                  <a:pt x="2834283" y="2772444"/>
                </a:lnTo>
                <a:lnTo>
                  <a:pt x="0" y="27724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5C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8460" y="44590"/>
            <a:ext cx="13758465" cy="196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48"/>
              </a:lnSpc>
            </a:pPr>
            <a:r>
              <a:rPr lang="en-US" sz="6457">
                <a:solidFill>
                  <a:srgbClr val="F6F6E9"/>
                </a:solidFill>
                <a:latin typeface="Faustina"/>
                <a:ea typeface="Faustina"/>
                <a:cs typeface="Faustina"/>
                <a:sym typeface="Faustina"/>
              </a:rPr>
              <a:t>4.4 Phân loại mô hình</a:t>
            </a:r>
          </a:p>
          <a:p>
            <a:pPr algn="l" marL="0" indent="0" lvl="0">
              <a:lnSpc>
                <a:spcPts val="7748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639480" y="1293862"/>
            <a:ext cx="17815985" cy="2370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0"/>
              </a:lnSpc>
            </a:pPr>
            <a:r>
              <a:rPr lang="en-US" sz="3200" b="true">
                <a:solidFill>
                  <a:srgbClr val="F6F6E9"/>
                </a:solidFill>
                <a:latin typeface="Asap Bold"/>
                <a:ea typeface="Asap Bold"/>
                <a:cs typeface="Asap Bold"/>
                <a:sym typeface="Asap Bold"/>
              </a:rPr>
              <a:t>Quá trình huấn luyện</a:t>
            </a:r>
          </a:p>
          <a:p>
            <a:pPr algn="l" marL="690881" indent="-345440" lvl="1">
              <a:lnSpc>
                <a:spcPts val="6400"/>
              </a:lnSpc>
              <a:buFont typeface="Arial"/>
              <a:buChar char="•"/>
            </a:pPr>
            <a:r>
              <a:rPr lang="en-US" sz="3200">
                <a:solidFill>
                  <a:srgbClr val="F6F6E9"/>
                </a:solidFill>
                <a:latin typeface="Asap"/>
                <a:ea typeface="Asap"/>
                <a:cs typeface="Asap"/>
                <a:sym typeface="Asap"/>
              </a:rPr>
              <a:t>Dùng KFold Cross-Validation (5 folds) để đánh giá mô hình khách quan.</a:t>
            </a:r>
          </a:p>
          <a:p>
            <a:pPr algn="l" marL="690881" indent="-345440" lvl="1">
              <a:lnSpc>
                <a:spcPts val="6400"/>
              </a:lnSpc>
              <a:buFont typeface="Arial"/>
              <a:buChar char="•"/>
            </a:pPr>
            <a:r>
              <a:rPr lang="en-US" sz="3200">
                <a:solidFill>
                  <a:srgbClr val="F6F6E9"/>
                </a:solidFill>
                <a:latin typeface="Asap"/>
                <a:ea typeface="Asap"/>
                <a:cs typeface="Asap"/>
                <a:sym typeface="Asap"/>
              </a:rPr>
              <a:t>Mỗi lần chia dữ liệu thành 80% huấn luyện, 20% kiểm tra.</a:t>
            </a: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15123308" y="9734617"/>
            <a:ext cx="3164692" cy="552383"/>
          </a:xfrm>
          <a:custGeom>
            <a:avLst/>
            <a:gdLst/>
            <a:ahLst/>
            <a:cxnLst/>
            <a:rect r="r" b="b" t="t" l="l"/>
            <a:pathLst>
              <a:path h="552383" w="3164692">
                <a:moveTo>
                  <a:pt x="3164692" y="0"/>
                </a:moveTo>
                <a:lnTo>
                  <a:pt x="0" y="0"/>
                </a:lnTo>
                <a:lnTo>
                  <a:pt x="0" y="552383"/>
                </a:lnTo>
                <a:lnTo>
                  <a:pt x="3164692" y="552383"/>
                </a:lnTo>
                <a:lnTo>
                  <a:pt x="316469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5009217" y="401801"/>
            <a:ext cx="2834283" cy="2772445"/>
          </a:xfrm>
          <a:custGeom>
            <a:avLst/>
            <a:gdLst/>
            <a:ahLst/>
            <a:cxnLst/>
            <a:rect r="r" b="b" t="t" l="l"/>
            <a:pathLst>
              <a:path h="2772445" w="2834283">
                <a:moveTo>
                  <a:pt x="0" y="0"/>
                </a:moveTo>
                <a:lnTo>
                  <a:pt x="2834283" y="0"/>
                </a:lnTo>
                <a:lnTo>
                  <a:pt x="2834283" y="2772444"/>
                </a:lnTo>
                <a:lnTo>
                  <a:pt x="0" y="27724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4738688"/>
            <a:ext cx="12496418" cy="3784404"/>
          </a:xfrm>
          <a:custGeom>
            <a:avLst/>
            <a:gdLst/>
            <a:ahLst/>
            <a:cxnLst/>
            <a:rect r="r" b="b" t="t" l="l"/>
            <a:pathLst>
              <a:path h="3784404" w="12496418">
                <a:moveTo>
                  <a:pt x="0" y="0"/>
                </a:moveTo>
                <a:lnTo>
                  <a:pt x="12496418" y="0"/>
                </a:lnTo>
                <a:lnTo>
                  <a:pt x="12496418" y="3784404"/>
                </a:lnTo>
                <a:lnTo>
                  <a:pt x="0" y="37844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39480" y="3824923"/>
            <a:ext cx="17815985" cy="1560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0"/>
              </a:lnSpc>
            </a:pPr>
            <a:r>
              <a:rPr lang="en-US" sz="3200" b="true">
                <a:solidFill>
                  <a:srgbClr val="F6F6E9"/>
                </a:solidFill>
                <a:latin typeface="Asap Bold"/>
                <a:ea typeface="Asap Bold"/>
                <a:cs typeface="Asap Bold"/>
                <a:sym typeface="Asap Bold"/>
              </a:rPr>
              <a:t>Kết quả mô hình:</a:t>
            </a:r>
          </a:p>
          <a:p>
            <a:pPr algn="l">
              <a:lnSpc>
                <a:spcPts val="6400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98077" y="104775"/>
            <a:ext cx="14007616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  <a:spcBef>
                <a:spcPct val="0"/>
              </a:spcBef>
            </a:pPr>
            <a:r>
              <a:rPr lang="en-US" b="true" sz="6000">
                <a:solidFill>
                  <a:srgbClr val="2E2E2E"/>
                </a:solidFill>
                <a:latin typeface="Faustina Bold"/>
                <a:ea typeface="Faustina Bold"/>
                <a:cs typeface="Faustina Bold"/>
                <a:sym typeface="Faustina Bold"/>
              </a:rPr>
              <a:t>5.Thách thức và giải pháp</a:t>
            </a:r>
          </a:p>
          <a:p>
            <a:pPr algn="l" marL="0" indent="0" lvl="0">
              <a:lnSpc>
                <a:spcPts val="7200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598077" y="1331734"/>
            <a:ext cx="15437309" cy="5902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3999" b="true">
                <a:solidFill>
                  <a:srgbClr val="2E2E2E"/>
                </a:solidFill>
                <a:latin typeface="Asap Bold"/>
                <a:ea typeface="Asap Bold"/>
                <a:cs typeface="Asap Bold"/>
                <a:sym typeface="Asap Bold"/>
              </a:rPr>
              <a:t>Thách thức</a:t>
            </a:r>
          </a:p>
          <a:p>
            <a:pPr algn="l" marL="863599" indent="-431800" lvl="1">
              <a:lnSpc>
                <a:spcPts val="5199"/>
              </a:lnSpc>
              <a:buFont typeface="Arial"/>
              <a:buChar char="•"/>
            </a:pPr>
            <a:r>
              <a:rPr lang="en-US" sz="3999">
                <a:solidFill>
                  <a:srgbClr val="2E2E2E"/>
                </a:solidFill>
                <a:latin typeface="Asap"/>
                <a:ea typeface="Asap"/>
                <a:cs typeface="Asap"/>
                <a:sym typeface="Asap"/>
              </a:rPr>
              <a:t>D</a:t>
            </a:r>
            <a:r>
              <a:rPr lang="en-US" sz="3999">
                <a:solidFill>
                  <a:srgbClr val="2E2E2E"/>
                </a:solidFill>
                <a:latin typeface="Asap"/>
                <a:ea typeface="Asap"/>
                <a:cs typeface="Asap"/>
                <a:sym typeface="Asap"/>
              </a:rPr>
              <a:t>ữ liệu thiếu và không đồng nhất, đặc biệt ở các cột văn bản.</a:t>
            </a:r>
          </a:p>
          <a:p>
            <a:pPr algn="l" marL="863599" indent="-431800" lvl="1">
              <a:lnSpc>
                <a:spcPts val="5199"/>
              </a:lnSpc>
              <a:buFont typeface="Arial"/>
              <a:buChar char="•"/>
            </a:pPr>
            <a:r>
              <a:rPr lang="en-US" sz="3999">
                <a:solidFill>
                  <a:srgbClr val="2E2E2E"/>
                </a:solidFill>
                <a:latin typeface="Asap"/>
                <a:ea typeface="Asap"/>
                <a:cs typeface="Asap"/>
                <a:sym typeface="Asap"/>
              </a:rPr>
              <a:t>Mất cân bằng lớp, gây khó khăn khi phân loại dự án thất bại.</a:t>
            </a:r>
          </a:p>
          <a:p>
            <a:pPr algn="l" marL="863599" indent="-431800" lvl="1">
              <a:lnSpc>
                <a:spcPts val="5199"/>
              </a:lnSpc>
              <a:buFont typeface="Arial"/>
              <a:buChar char="•"/>
            </a:pPr>
            <a:r>
              <a:rPr lang="en-US" sz="3999">
                <a:solidFill>
                  <a:srgbClr val="2E2E2E"/>
                </a:solidFill>
                <a:latin typeface="Asap"/>
                <a:ea typeface="Asap"/>
                <a:cs typeface="Asap"/>
                <a:sym typeface="Asap"/>
              </a:rPr>
              <a:t>CatBoost khó giải thích, không rõ đặc trưng nào quyết định kết quả.</a:t>
            </a:r>
          </a:p>
          <a:p>
            <a:pPr algn="l" marL="863599" indent="-431800" lvl="1">
              <a:lnSpc>
                <a:spcPts val="5199"/>
              </a:lnSpc>
              <a:buFont typeface="Arial"/>
              <a:buChar char="•"/>
            </a:pPr>
            <a:r>
              <a:rPr lang="en-US" sz="3999">
                <a:solidFill>
                  <a:srgbClr val="2E2E2E"/>
                </a:solidFill>
                <a:latin typeface="Asap"/>
                <a:ea typeface="Asap"/>
                <a:cs typeface="Asap"/>
                <a:sym typeface="Asap"/>
              </a:rPr>
              <a:t>Tốn tài nguyên, do sử dụng BERT và huấn luyện trên tập lớn.</a:t>
            </a:r>
          </a:p>
          <a:p>
            <a:pPr algn="l">
              <a:lnSpc>
                <a:spcPts val="5199"/>
              </a:lnSpc>
            </a:pPr>
          </a:p>
          <a:p>
            <a:pPr algn="l">
              <a:lnSpc>
                <a:spcPts val="5199"/>
              </a:lnSpc>
            </a:pPr>
          </a:p>
          <a:p>
            <a:pPr algn="l">
              <a:lnSpc>
                <a:spcPts val="5199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-5400000">
            <a:off x="13479617" y="3234218"/>
            <a:ext cx="8367370" cy="3818563"/>
          </a:xfrm>
          <a:custGeom>
            <a:avLst/>
            <a:gdLst/>
            <a:ahLst/>
            <a:cxnLst/>
            <a:rect r="r" b="b" t="t" l="l"/>
            <a:pathLst>
              <a:path h="3818563" w="8367370">
                <a:moveTo>
                  <a:pt x="0" y="0"/>
                </a:moveTo>
                <a:lnTo>
                  <a:pt x="8367370" y="0"/>
                </a:lnTo>
                <a:lnTo>
                  <a:pt x="8367370" y="3818564"/>
                </a:lnTo>
                <a:lnTo>
                  <a:pt x="0" y="38185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98077" y="5540076"/>
            <a:ext cx="15437309" cy="393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3999" b="true">
                <a:solidFill>
                  <a:srgbClr val="2E2E2E"/>
                </a:solidFill>
                <a:latin typeface="Asap Bold"/>
                <a:ea typeface="Asap Bold"/>
                <a:cs typeface="Asap Bold"/>
                <a:sym typeface="Asap Bold"/>
              </a:rPr>
              <a:t> Giải pháp</a:t>
            </a:r>
          </a:p>
          <a:p>
            <a:pPr algn="l" marL="863599" indent="-431800" lvl="1">
              <a:lnSpc>
                <a:spcPts val="5199"/>
              </a:lnSpc>
              <a:buFont typeface="Arial"/>
              <a:buChar char="•"/>
            </a:pPr>
            <a:r>
              <a:rPr lang="en-US" sz="3999">
                <a:solidFill>
                  <a:srgbClr val="2E2E2E"/>
                </a:solidFill>
                <a:latin typeface="Asap"/>
                <a:ea typeface="Asap"/>
                <a:cs typeface="Asap"/>
                <a:sym typeface="Asap"/>
              </a:rPr>
              <a:t>Chuẩ</a:t>
            </a:r>
            <a:r>
              <a:rPr lang="en-US" sz="3999">
                <a:solidFill>
                  <a:srgbClr val="2E2E2E"/>
                </a:solidFill>
                <a:latin typeface="Asap"/>
                <a:ea typeface="Asap"/>
                <a:cs typeface="Asap"/>
                <a:sym typeface="Asap"/>
              </a:rPr>
              <a:t>n hóa dữ liệu văn bản bằng SentenceTransformer.</a:t>
            </a:r>
          </a:p>
          <a:p>
            <a:pPr algn="l" marL="863599" indent="-431800" lvl="1">
              <a:lnSpc>
                <a:spcPts val="5199"/>
              </a:lnSpc>
              <a:buFont typeface="Arial"/>
              <a:buChar char="•"/>
            </a:pPr>
            <a:r>
              <a:rPr lang="en-US" sz="3999">
                <a:solidFill>
                  <a:srgbClr val="2E2E2E"/>
                </a:solidFill>
                <a:latin typeface="Asap"/>
                <a:ea typeface="Asap"/>
                <a:cs typeface="Asap"/>
                <a:sym typeface="Asap"/>
              </a:rPr>
              <a:t>Cân bằng dữ liệu với resampling hoặc gán trọng số.</a:t>
            </a:r>
          </a:p>
          <a:p>
            <a:pPr algn="l" marL="863599" indent="-431800" lvl="1">
              <a:lnSpc>
                <a:spcPts val="5199"/>
              </a:lnSpc>
              <a:buFont typeface="Arial"/>
              <a:buChar char="•"/>
            </a:pPr>
            <a:r>
              <a:rPr lang="en-US" sz="3999">
                <a:solidFill>
                  <a:srgbClr val="2E2E2E"/>
                </a:solidFill>
                <a:latin typeface="Asap"/>
                <a:ea typeface="Asap"/>
                <a:cs typeface="Asap"/>
                <a:sym typeface="Asap"/>
              </a:rPr>
              <a:t>Tối ưu tham số tự động bằng Optuna.</a:t>
            </a:r>
          </a:p>
          <a:p>
            <a:pPr algn="l" marL="863599" indent="-431800" lvl="1">
              <a:lnSpc>
                <a:spcPts val="5199"/>
              </a:lnSpc>
              <a:buFont typeface="Arial"/>
              <a:buChar char="•"/>
            </a:pPr>
            <a:r>
              <a:rPr lang="en-US" sz="3999">
                <a:solidFill>
                  <a:srgbClr val="2E2E2E"/>
                </a:solidFill>
                <a:latin typeface="Asap"/>
                <a:ea typeface="Asap"/>
                <a:cs typeface="Asap"/>
                <a:sym typeface="Asap"/>
              </a:rPr>
              <a:t>Phân tích SHAP để giải thích mô hình.</a:t>
            </a:r>
          </a:p>
          <a:p>
            <a:pPr algn="l">
              <a:lnSpc>
                <a:spcPts val="5199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8789" y="135819"/>
            <a:ext cx="9374553" cy="10015361"/>
          </a:xfrm>
          <a:custGeom>
            <a:avLst/>
            <a:gdLst/>
            <a:ahLst/>
            <a:cxnLst/>
            <a:rect r="r" b="b" t="t" l="l"/>
            <a:pathLst>
              <a:path h="10015361" w="9374553">
                <a:moveTo>
                  <a:pt x="0" y="0"/>
                </a:moveTo>
                <a:lnTo>
                  <a:pt x="9374553" y="0"/>
                </a:lnTo>
                <a:lnTo>
                  <a:pt x="9374553" y="10015362"/>
                </a:lnTo>
                <a:lnTo>
                  <a:pt x="0" y="100153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" r="0" b="-1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452576" y="765542"/>
            <a:ext cx="7524418" cy="548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-</a:t>
            </a:r>
            <a:r>
              <a:rPr lang="en-US" sz="300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Biểu đồ SHAP cho biết mức độ ảnh hưởng của từng đặc trưng đến quyết định dự đoán của mô hình.</a:t>
            </a:r>
          </a:p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Các đặc trưng nằm càng trên cao, màu càng đậm (đỏ/xanh), thì ảnh hưởng càng lớn.</a:t>
            </a:r>
          </a:p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Biểu đồ giúp: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Hiểu đặc trưng nào quan trọng nhất (ví dụ: amount_collected).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Biết được chiều hướng tác động (tăng hay giảm xác suất thành công).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Giải thích mô hình một cách trực quan và dễ hiểu hơn.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98077" y="104775"/>
            <a:ext cx="14007616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  <a:spcBef>
                <a:spcPct val="0"/>
              </a:spcBef>
            </a:pPr>
            <a:r>
              <a:rPr lang="en-US" b="true" sz="6000">
                <a:solidFill>
                  <a:srgbClr val="2E2E2E"/>
                </a:solidFill>
                <a:latin typeface="Faustina Bold"/>
                <a:ea typeface="Faustina Bold"/>
                <a:cs typeface="Faustina Bold"/>
                <a:sym typeface="Faustina Bold"/>
              </a:rPr>
              <a:t>6. Kết luận và hướng phát triển</a:t>
            </a:r>
          </a:p>
          <a:p>
            <a:pPr algn="l" marL="0" indent="0" lvl="0">
              <a:lnSpc>
                <a:spcPts val="7200"/>
              </a:lnSpc>
              <a:spcBef>
                <a:spcPct val="0"/>
              </a:spcBef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-5400000">
            <a:off x="13479617" y="3234218"/>
            <a:ext cx="8367370" cy="3818563"/>
          </a:xfrm>
          <a:custGeom>
            <a:avLst/>
            <a:gdLst/>
            <a:ahLst/>
            <a:cxnLst/>
            <a:rect r="r" b="b" t="t" l="l"/>
            <a:pathLst>
              <a:path h="3818563" w="8367370">
                <a:moveTo>
                  <a:pt x="0" y="0"/>
                </a:moveTo>
                <a:lnTo>
                  <a:pt x="8367370" y="0"/>
                </a:lnTo>
                <a:lnTo>
                  <a:pt x="8367370" y="3818564"/>
                </a:lnTo>
                <a:lnTo>
                  <a:pt x="0" y="38185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98077" y="1405600"/>
            <a:ext cx="15822849" cy="4793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63"/>
              </a:lnSpc>
            </a:pPr>
            <a:r>
              <a:rPr lang="en-US" sz="3587" b="true">
                <a:solidFill>
                  <a:srgbClr val="2E2E2E"/>
                </a:solidFill>
                <a:latin typeface="Asap Bold"/>
                <a:ea typeface="Asap Bold"/>
                <a:cs typeface="Asap Bold"/>
                <a:sym typeface="Asap Bold"/>
              </a:rPr>
              <a:t>6.1 KẾT LUẬN</a:t>
            </a:r>
          </a:p>
          <a:p>
            <a:pPr algn="l" marL="774523" indent="-387261" lvl="1">
              <a:lnSpc>
                <a:spcPts val="4663"/>
              </a:lnSpc>
              <a:buFont typeface="Arial"/>
              <a:buChar char="•"/>
            </a:pPr>
            <a:r>
              <a:rPr lang="en-US" sz="3587">
                <a:solidFill>
                  <a:srgbClr val="2E2E2E"/>
                </a:solidFill>
                <a:latin typeface="Asap"/>
                <a:ea typeface="Asap"/>
                <a:cs typeface="Asap"/>
                <a:sym typeface="Asap"/>
              </a:rPr>
              <a:t>Mô hình CatBoost đạt độ chính xác 98% trong phân loại dự án thành công.</a:t>
            </a:r>
          </a:p>
          <a:p>
            <a:pPr algn="l" marL="774523" indent="-387261" lvl="1">
              <a:lnSpc>
                <a:spcPts val="4663"/>
              </a:lnSpc>
              <a:buFont typeface="Arial"/>
              <a:buChar char="•"/>
            </a:pPr>
            <a:r>
              <a:rPr lang="en-US" sz="3587">
                <a:solidFill>
                  <a:srgbClr val="2E2E2E"/>
                </a:solidFill>
                <a:latin typeface="Asap"/>
                <a:ea typeface="Asap"/>
                <a:cs typeface="Asap"/>
                <a:sym typeface="Asap"/>
              </a:rPr>
              <a:t>Các đặc trưng như mô tả dự án, số tiền mục tiêu, video, mạng xã hội có ảnh hưởng lớn.</a:t>
            </a:r>
          </a:p>
          <a:p>
            <a:pPr algn="l" marL="774523" indent="-387261" lvl="1">
              <a:lnSpc>
                <a:spcPts val="4663"/>
              </a:lnSpc>
              <a:buFont typeface="Arial"/>
              <a:buChar char="•"/>
            </a:pPr>
            <a:r>
              <a:rPr lang="en-US" sz="3587">
                <a:solidFill>
                  <a:srgbClr val="2E2E2E"/>
                </a:solidFill>
                <a:latin typeface="Asap"/>
                <a:ea typeface="Asap"/>
                <a:cs typeface="Asap"/>
                <a:sym typeface="Asap"/>
              </a:rPr>
              <a:t>SHAP giúp giải thích mô hình rõ ràng, hỗ trợ ra quyết định chính xác hơn.</a:t>
            </a:r>
          </a:p>
          <a:p>
            <a:pPr algn="l">
              <a:lnSpc>
                <a:spcPts val="5199"/>
              </a:lnSpc>
            </a:pPr>
          </a:p>
          <a:p>
            <a:pPr algn="l">
              <a:lnSpc>
                <a:spcPts val="4663"/>
              </a:lnSpc>
            </a:pPr>
          </a:p>
          <a:p>
            <a:pPr algn="l">
              <a:lnSpc>
                <a:spcPts val="4663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598077" y="4534045"/>
            <a:ext cx="15822849" cy="538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63"/>
              </a:lnSpc>
            </a:pPr>
            <a:r>
              <a:rPr lang="en-US" sz="3587" b="true">
                <a:solidFill>
                  <a:srgbClr val="2E2E2E"/>
                </a:solidFill>
                <a:latin typeface="Asap Bold"/>
                <a:ea typeface="Asap Bold"/>
                <a:cs typeface="Asap Bold"/>
                <a:sym typeface="Asap Bold"/>
              </a:rPr>
              <a:t>6.2 Hướng phát triển</a:t>
            </a:r>
          </a:p>
          <a:p>
            <a:pPr algn="l" marL="774523" indent="-387261" lvl="1">
              <a:lnSpc>
                <a:spcPts val="4663"/>
              </a:lnSpc>
              <a:buFont typeface="Arial"/>
              <a:buChar char="•"/>
            </a:pPr>
            <a:r>
              <a:rPr lang="en-US" sz="3587">
                <a:solidFill>
                  <a:srgbClr val="2E2E2E"/>
                </a:solidFill>
                <a:latin typeface="Asap"/>
                <a:ea typeface="Asap"/>
                <a:cs typeface="Asap"/>
                <a:sym typeface="Asap"/>
              </a:rPr>
              <a:t>Mở rộng dữ liệu từ nhiều nền tảng để tăng độ đa dạng.</a:t>
            </a:r>
          </a:p>
          <a:p>
            <a:pPr algn="l" marL="774523" indent="-387261" lvl="1">
              <a:lnSpc>
                <a:spcPts val="4663"/>
              </a:lnSpc>
              <a:buFont typeface="Arial"/>
              <a:buChar char="•"/>
            </a:pPr>
            <a:r>
              <a:rPr lang="en-US" sz="3587">
                <a:solidFill>
                  <a:srgbClr val="2E2E2E"/>
                </a:solidFill>
                <a:latin typeface="Asap"/>
                <a:ea typeface="Asap"/>
                <a:cs typeface="Asap"/>
                <a:sym typeface="Asap"/>
              </a:rPr>
              <a:t>Phân tích theo thời gian/khu vực để bắt xu hướng địa phương.</a:t>
            </a:r>
          </a:p>
          <a:p>
            <a:pPr algn="l" marL="774523" indent="-387261" lvl="1">
              <a:lnSpc>
                <a:spcPts val="4663"/>
              </a:lnSpc>
              <a:buFont typeface="Arial"/>
              <a:buChar char="•"/>
            </a:pPr>
            <a:r>
              <a:rPr lang="en-US" sz="3587">
                <a:solidFill>
                  <a:srgbClr val="2E2E2E"/>
                </a:solidFill>
                <a:latin typeface="Asap"/>
                <a:ea typeface="Asap"/>
                <a:cs typeface="Asap"/>
                <a:sym typeface="Asap"/>
              </a:rPr>
              <a:t>Thử thêm mô hình khác như XGBoost, LightGBM, Deep Learning.</a:t>
            </a:r>
          </a:p>
          <a:p>
            <a:pPr algn="l" marL="774523" indent="-387261" lvl="1">
              <a:lnSpc>
                <a:spcPts val="4663"/>
              </a:lnSpc>
              <a:buFont typeface="Arial"/>
              <a:buChar char="•"/>
            </a:pPr>
            <a:r>
              <a:rPr lang="en-US" sz="3587">
                <a:solidFill>
                  <a:srgbClr val="2E2E2E"/>
                </a:solidFill>
                <a:latin typeface="Asap"/>
                <a:ea typeface="Asap"/>
                <a:cs typeface="Asap"/>
                <a:sym typeface="Asap"/>
              </a:rPr>
              <a:t>Triển khai ứng dụng thực tế hỗ trợ nhà sáng lập ra quyết định.</a:t>
            </a:r>
          </a:p>
          <a:p>
            <a:pPr algn="l" marL="774523" indent="-387261" lvl="1">
              <a:lnSpc>
                <a:spcPts val="4663"/>
              </a:lnSpc>
              <a:buFont typeface="Arial"/>
              <a:buChar char="•"/>
            </a:pPr>
            <a:r>
              <a:rPr lang="en-US" sz="3587">
                <a:solidFill>
                  <a:srgbClr val="2E2E2E"/>
                </a:solidFill>
                <a:latin typeface="Asap"/>
                <a:ea typeface="Asap"/>
                <a:cs typeface="Asap"/>
                <a:sym typeface="Asap"/>
              </a:rPr>
              <a:t>Tích hợp thêm yếu tố xã hội, văn hóa để nâng cao độ chính xác.</a:t>
            </a:r>
          </a:p>
          <a:p>
            <a:pPr algn="l">
              <a:lnSpc>
                <a:spcPts val="5199"/>
              </a:lnSpc>
            </a:pPr>
          </a:p>
          <a:p>
            <a:pPr algn="l">
              <a:lnSpc>
                <a:spcPts val="4663"/>
              </a:lnSpc>
            </a:pPr>
          </a:p>
          <a:p>
            <a:pPr algn="l">
              <a:lnSpc>
                <a:spcPts val="4663"/>
              </a:lnSpc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5C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17695" y="121428"/>
            <a:ext cx="13758465" cy="196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48"/>
              </a:lnSpc>
            </a:pPr>
            <a:r>
              <a:rPr lang="en-US" sz="6457">
                <a:solidFill>
                  <a:srgbClr val="F6F6E9"/>
                </a:solidFill>
                <a:latin typeface="Faustina"/>
                <a:ea typeface="Faustina"/>
                <a:cs typeface="Faustina"/>
                <a:sym typeface="Faustina"/>
              </a:rPr>
              <a:t>7. ƯU VÀ NHƯỢC ĐIỂM</a:t>
            </a:r>
          </a:p>
          <a:p>
            <a:pPr algn="l" marL="0" indent="0" lvl="0">
              <a:lnSpc>
                <a:spcPts val="7748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472015" y="992126"/>
            <a:ext cx="17815985" cy="1100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99"/>
              </a:lnSpc>
            </a:pPr>
            <a:r>
              <a:rPr lang="en-US" sz="3999" b="true">
                <a:solidFill>
                  <a:srgbClr val="F6F6E9"/>
                </a:solidFill>
                <a:latin typeface="Asap Bold"/>
                <a:ea typeface="Asap Bold"/>
                <a:cs typeface="Asap Bold"/>
                <a:sym typeface="Asap Bold"/>
              </a:rPr>
              <a:t>7.1 Ưu điểm</a:t>
            </a:r>
          </a:p>
          <a:p>
            <a:pPr algn="l" marL="863599" indent="-431800" lvl="1">
              <a:lnSpc>
                <a:spcPts val="7999"/>
              </a:lnSpc>
              <a:buFont typeface="Arial"/>
              <a:buChar char="•"/>
            </a:pPr>
            <a:r>
              <a:rPr lang="en-US" sz="3999">
                <a:solidFill>
                  <a:srgbClr val="F6F6E9"/>
                </a:solidFill>
                <a:latin typeface="Asap"/>
                <a:ea typeface="Asap"/>
                <a:cs typeface="Asap"/>
                <a:sym typeface="Asap"/>
              </a:rPr>
              <a:t>Hiệu quả cao: Accuracy đạt 98%, vượt nhiều mô hình truyền thống.</a:t>
            </a:r>
          </a:p>
          <a:p>
            <a:pPr algn="l" marL="863599" indent="-431800" lvl="1">
              <a:lnSpc>
                <a:spcPts val="7999"/>
              </a:lnSpc>
              <a:buFont typeface="Arial"/>
              <a:buChar char="•"/>
            </a:pPr>
            <a:r>
              <a:rPr lang="en-US" sz="3999">
                <a:solidFill>
                  <a:srgbClr val="F6F6E9"/>
                </a:solidFill>
                <a:latin typeface="Asap"/>
                <a:ea typeface="Asap"/>
                <a:cs typeface="Asap"/>
                <a:sym typeface="Asap"/>
              </a:rPr>
              <a:t>Hiểu ngôn ngữ tốt: Nhờ BERT, mô hình nắm được ý nghĩa mô tả sâu hơn TF-IDF/BoW.</a:t>
            </a:r>
          </a:p>
          <a:p>
            <a:pPr algn="l" marL="863599" indent="-431800" lvl="1">
              <a:lnSpc>
                <a:spcPts val="7999"/>
              </a:lnSpc>
              <a:buFont typeface="Arial"/>
              <a:buChar char="•"/>
            </a:pPr>
            <a:r>
              <a:rPr lang="en-US" sz="3999">
                <a:solidFill>
                  <a:srgbClr val="F6F6E9"/>
                </a:solidFill>
                <a:latin typeface="Asap"/>
                <a:ea typeface="Asap"/>
                <a:cs typeface="Asap"/>
                <a:sym typeface="Asap"/>
              </a:rPr>
              <a:t>Tối ưu hóa xử lý đặc trưng: CatBoost xử lý tốt dữ liệu phân loại, không cần one-hot.</a:t>
            </a:r>
          </a:p>
          <a:p>
            <a:pPr algn="l" marL="863599" indent="-431800" lvl="1">
              <a:lnSpc>
                <a:spcPts val="7999"/>
              </a:lnSpc>
              <a:buFont typeface="Arial"/>
              <a:buChar char="•"/>
            </a:pPr>
            <a:r>
              <a:rPr lang="en-US" sz="3999">
                <a:solidFill>
                  <a:srgbClr val="F6F6E9"/>
                </a:solidFill>
                <a:latin typeface="Asap"/>
                <a:ea typeface="Asap"/>
                <a:cs typeface="Asap"/>
                <a:sym typeface="Asap"/>
              </a:rPr>
              <a:t>Giải thích rõ ràng: SHAP giúp minh bạch hóa mô hình, dễ phân tích đặc trưng ảnh hưởng.</a:t>
            </a:r>
          </a:p>
          <a:p>
            <a:pPr algn="l">
              <a:lnSpc>
                <a:spcPts val="7999"/>
              </a:lnSpc>
            </a:pPr>
          </a:p>
          <a:p>
            <a:pPr algn="l">
              <a:lnSpc>
                <a:spcPts val="7999"/>
              </a:lnSpc>
            </a:pPr>
          </a:p>
          <a:p>
            <a:pPr algn="l">
              <a:lnSpc>
                <a:spcPts val="7999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15123308" y="9734617"/>
            <a:ext cx="3164692" cy="552383"/>
          </a:xfrm>
          <a:custGeom>
            <a:avLst/>
            <a:gdLst/>
            <a:ahLst/>
            <a:cxnLst/>
            <a:rect r="r" b="b" t="t" l="l"/>
            <a:pathLst>
              <a:path h="552383" w="3164692">
                <a:moveTo>
                  <a:pt x="3164692" y="0"/>
                </a:moveTo>
                <a:lnTo>
                  <a:pt x="0" y="0"/>
                </a:lnTo>
                <a:lnTo>
                  <a:pt x="0" y="552383"/>
                </a:lnTo>
                <a:lnTo>
                  <a:pt x="3164692" y="552383"/>
                </a:lnTo>
                <a:lnTo>
                  <a:pt x="316469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3871370" y="-1666907"/>
            <a:ext cx="2834283" cy="2772445"/>
          </a:xfrm>
          <a:custGeom>
            <a:avLst/>
            <a:gdLst/>
            <a:ahLst/>
            <a:cxnLst/>
            <a:rect r="r" b="b" t="t" l="l"/>
            <a:pathLst>
              <a:path h="2772445" w="2834283">
                <a:moveTo>
                  <a:pt x="0" y="0"/>
                </a:moveTo>
                <a:lnTo>
                  <a:pt x="2834284" y="0"/>
                </a:lnTo>
                <a:lnTo>
                  <a:pt x="2834284" y="2772445"/>
                </a:lnTo>
                <a:lnTo>
                  <a:pt x="0" y="27724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-2116589" y="-1743745"/>
            <a:ext cx="2834283" cy="2772445"/>
          </a:xfrm>
          <a:custGeom>
            <a:avLst/>
            <a:gdLst/>
            <a:ahLst/>
            <a:cxnLst/>
            <a:rect r="r" b="b" t="t" l="l"/>
            <a:pathLst>
              <a:path h="2772445" w="2834283">
                <a:moveTo>
                  <a:pt x="0" y="0"/>
                </a:moveTo>
                <a:lnTo>
                  <a:pt x="2834284" y="0"/>
                </a:lnTo>
                <a:lnTo>
                  <a:pt x="2834284" y="2772445"/>
                </a:lnTo>
                <a:lnTo>
                  <a:pt x="0" y="27724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5C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36008" y="556436"/>
            <a:ext cx="17815985" cy="797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99"/>
              </a:lnSpc>
            </a:pPr>
            <a:r>
              <a:rPr lang="en-US" sz="3999" b="true">
                <a:solidFill>
                  <a:srgbClr val="F6F6E9"/>
                </a:solidFill>
                <a:latin typeface="Asap Bold"/>
                <a:ea typeface="Asap Bold"/>
                <a:cs typeface="Asap Bold"/>
                <a:sym typeface="Asap Bold"/>
              </a:rPr>
              <a:t>7.2 Nhược điểm</a:t>
            </a:r>
          </a:p>
          <a:p>
            <a:pPr algn="l" marL="863599" indent="-431800" lvl="1">
              <a:lnSpc>
                <a:spcPts val="7999"/>
              </a:lnSpc>
              <a:buFont typeface="Arial"/>
              <a:buChar char="•"/>
            </a:pPr>
            <a:r>
              <a:rPr lang="en-US" sz="3999">
                <a:solidFill>
                  <a:srgbClr val="F6F6E9"/>
                </a:solidFill>
                <a:latin typeface="Asap"/>
                <a:ea typeface="Asap"/>
                <a:cs typeface="Asap"/>
                <a:sym typeface="Asap"/>
              </a:rPr>
              <a:t>Tốn tài nguyên: BERT + CatBoost cần nhiều thời gian và cấu hình máy mạnh.</a:t>
            </a:r>
          </a:p>
          <a:p>
            <a:pPr algn="l" marL="863599" indent="-431800" lvl="1">
              <a:lnSpc>
                <a:spcPts val="7999"/>
              </a:lnSpc>
              <a:buFont typeface="Arial"/>
              <a:buChar char="•"/>
            </a:pPr>
            <a:r>
              <a:rPr lang="en-US" sz="3999">
                <a:solidFill>
                  <a:srgbClr val="F6F6E9"/>
                </a:solidFill>
                <a:latin typeface="Asap"/>
                <a:ea typeface="Asap"/>
                <a:cs typeface="Asap"/>
                <a:sym typeface="Asap"/>
              </a:rPr>
              <a:t>Embedding khó diễn giải: Các vector số không biểu đạt rõ ý nghĩa ngôn ngữ.</a:t>
            </a:r>
          </a:p>
          <a:p>
            <a:pPr algn="l" marL="863599" indent="-431800" lvl="1">
              <a:lnSpc>
                <a:spcPts val="7999"/>
              </a:lnSpc>
              <a:buFont typeface="Arial"/>
              <a:buChar char="•"/>
            </a:pPr>
            <a:r>
              <a:rPr lang="en-US" sz="3999">
                <a:solidFill>
                  <a:srgbClr val="F6F6E9"/>
                </a:solidFill>
                <a:latin typeface="Asap"/>
                <a:ea typeface="Asap"/>
                <a:cs typeface="Asap"/>
                <a:sym typeface="Asap"/>
              </a:rPr>
              <a:t>Chưa đa dạng mô hình: Mới chỉ dùng CatBoost, chưa thử các thuật toán khác.</a:t>
            </a:r>
          </a:p>
          <a:p>
            <a:pPr algn="l" marL="863599" indent="-431800" lvl="1">
              <a:lnSpc>
                <a:spcPts val="7999"/>
              </a:lnSpc>
              <a:buFont typeface="Arial"/>
              <a:buChar char="•"/>
            </a:pPr>
            <a:r>
              <a:rPr lang="en-US" sz="3999">
                <a:solidFill>
                  <a:srgbClr val="F6F6E9"/>
                </a:solidFill>
                <a:latin typeface="Asap"/>
                <a:ea typeface="Asap"/>
                <a:cs typeface="Asap"/>
                <a:sym typeface="Asap"/>
              </a:rPr>
              <a:t>Giới hạn phạm vi: Dữ liệu chỉ tại Thổ Nhĩ Kỳ, chưa kiểm chứng trên thị trường khác.</a:t>
            </a:r>
          </a:p>
          <a:p>
            <a:pPr algn="l">
              <a:lnSpc>
                <a:spcPts val="7999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true" flipV="false" rot="0">
            <a:off x="15123308" y="9734617"/>
            <a:ext cx="3164692" cy="552383"/>
          </a:xfrm>
          <a:custGeom>
            <a:avLst/>
            <a:gdLst/>
            <a:ahLst/>
            <a:cxnLst/>
            <a:rect r="r" b="b" t="t" l="l"/>
            <a:pathLst>
              <a:path h="552383" w="3164692">
                <a:moveTo>
                  <a:pt x="3164692" y="0"/>
                </a:moveTo>
                <a:lnTo>
                  <a:pt x="0" y="0"/>
                </a:lnTo>
                <a:lnTo>
                  <a:pt x="0" y="552383"/>
                </a:lnTo>
                <a:lnTo>
                  <a:pt x="3164692" y="552383"/>
                </a:lnTo>
                <a:lnTo>
                  <a:pt x="316469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15453717" y="-1188437"/>
            <a:ext cx="2834283" cy="2772445"/>
          </a:xfrm>
          <a:custGeom>
            <a:avLst/>
            <a:gdLst/>
            <a:ahLst/>
            <a:cxnLst/>
            <a:rect r="r" b="b" t="t" l="l"/>
            <a:pathLst>
              <a:path h="2772445" w="2834283">
                <a:moveTo>
                  <a:pt x="0" y="0"/>
                </a:moveTo>
                <a:lnTo>
                  <a:pt x="2834283" y="0"/>
                </a:lnTo>
                <a:lnTo>
                  <a:pt x="2834283" y="2772444"/>
                </a:lnTo>
                <a:lnTo>
                  <a:pt x="0" y="27724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29073" y="4074857"/>
            <a:ext cx="10829854" cy="4615530"/>
            <a:chOff x="0" y="0"/>
            <a:chExt cx="14439805" cy="615404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0"/>
              <a:ext cx="14439805" cy="4876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600"/>
                </a:lnSpc>
              </a:pPr>
              <a:r>
                <a:rPr lang="en-US" sz="8000">
                  <a:solidFill>
                    <a:srgbClr val="2E2E2E"/>
                  </a:solidFill>
                  <a:latin typeface="Faustina"/>
                  <a:ea typeface="Faustina"/>
                  <a:cs typeface="Faustina"/>
                  <a:sym typeface="Faustina"/>
                </a:rPr>
                <a:t>Cảm ơn thầy và các bạn đã lắng nghe bài thuyết trình!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5389446"/>
              <a:ext cx="14439805" cy="7740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8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125267" y="1911353"/>
            <a:ext cx="4037465" cy="1842552"/>
          </a:xfrm>
          <a:custGeom>
            <a:avLst/>
            <a:gdLst/>
            <a:ahLst/>
            <a:cxnLst/>
            <a:rect r="r" b="b" t="t" l="l"/>
            <a:pathLst>
              <a:path h="1842552" w="4037465">
                <a:moveTo>
                  <a:pt x="0" y="0"/>
                </a:moveTo>
                <a:lnTo>
                  <a:pt x="4037466" y="0"/>
                </a:lnTo>
                <a:lnTo>
                  <a:pt x="4037466" y="1842553"/>
                </a:lnTo>
                <a:lnTo>
                  <a:pt x="0" y="18425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52638" y="265515"/>
            <a:ext cx="1937725" cy="2179445"/>
          </a:xfrm>
          <a:custGeom>
            <a:avLst/>
            <a:gdLst/>
            <a:ahLst/>
            <a:cxnLst/>
            <a:rect r="r" b="b" t="t" l="l"/>
            <a:pathLst>
              <a:path h="2179445" w="1937725">
                <a:moveTo>
                  <a:pt x="0" y="0"/>
                </a:moveTo>
                <a:lnTo>
                  <a:pt x="1937725" y="0"/>
                </a:lnTo>
                <a:lnTo>
                  <a:pt x="1937725" y="2179446"/>
                </a:lnTo>
                <a:lnTo>
                  <a:pt x="0" y="21794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452638" y="7842039"/>
            <a:ext cx="1937725" cy="2179445"/>
          </a:xfrm>
          <a:custGeom>
            <a:avLst/>
            <a:gdLst/>
            <a:ahLst/>
            <a:cxnLst/>
            <a:rect r="r" b="b" t="t" l="l"/>
            <a:pathLst>
              <a:path h="2179445" w="1937725">
                <a:moveTo>
                  <a:pt x="0" y="2179446"/>
                </a:moveTo>
                <a:lnTo>
                  <a:pt x="1937725" y="2179446"/>
                </a:lnTo>
                <a:lnTo>
                  <a:pt x="1937725" y="0"/>
                </a:lnTo>
                <a:lnTo>
                  <a:pt x="0" y="0"/>
                </a:lnTo>
                <a:lnTo>
                  <a:pt x="0" y="217944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5400000">
            <a:off x="-1181511" y="4773313"/>
            <a:ext cx="4241722" cy="740373"/>
          </a:xfrm>
          <a:custGeom>
            <a:avLst/>
            <a:gdLst/>
            <a:ahLst/>
            <a:cxnLst/>
            <a:rect r="r" b="b" t="t" l="l"/>
            <a:pathLst>
              <a:path h="740373" w="4241722">
                <a:moveTo>
                  <a:pt x="0" y="0"/>
                </a:moveTo>
                <a:lnTo>
                  <a:pt x="4241722" y="0"/>
                </a:lnTo>
                <a:lnTo>
                  <a:pt x="4241722" y="740374"/>
                </a:lnTo>
                <a:lnTo>
                  <a:pt x="0" y="7403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16086338" y="7842039"/>
            <a:ext cx="1937725" cy="2179445"/>
          </a:xfrm>
          <a:custGeom>
            <a:avLst/>
            <a:gdLst/>
            <a:ahLst/>
            <a:cxnLst/>
            <a:rect r="r" b="b" t="t" l="l"/>
            <a:pathLst>
              <a:path h="2179445" w="1937725">
                <a:moveTo>
                  <a:pt x="0" y="0"/>
                </a:moveTo>
                <a:lnTo>
                  <a:pt x="1937725" y="0"/>
                </a:lnTo>
                <a:lnTo>
                  <a:pt x="1937725" y="2179446"/>
                </a:lnTo>
                <a:lnTo>
                  <a:pt x="0" y="21794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true" rot="-10800000">
            <a:off x="16086338" y="265515"/>
            <a:ext cx="1937725" cy="2179445"/>
          </a:xfrm>
          <a:custGeom>
            <a:avLst/>
            <a:gdLst/>
            <a:ahLst/>
            <a:cxnLst/>
            <a:rect r="r" b="b" t="t" l="l"/>
            <a:pathLst>
              <a:path h="2179445" w="1937725">
                <a:moveTo>
                  <a:pt x="0" y="2179446"/>
                </a:moveTo>
                <a:lnTo>
                  <a:pt x="1937725" y="2179446"/>
                </a:lnTo>
                <a:lnTo>
                  <a:pt x="1937725" y="0"/>
                </a:lnTo>
                <a:lnTo>
                  <a:pt x="0" y="0"/>
                </a:lnTo>
                <a:lnTo>
                  <a:pt x="0" y="217944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5400000">
            <a:off x="15416489" y="4773313"/>
            <a:ext cx="4241722" cy="740373"/>
          </a:xfrm>
          <a:custGeom>
            <a:avLst/>
            <a:gdLst/>
            <a:ahLst/>
            <a:cxnLst/>
            <a:rect r="r" b="b" t="t" l="l"/>
            <a:pathLst>
              <a:path h="740373" w="4241722">
                <a:moveTo>
                  <a:pt x="0" y="0"/>
                </a:moveTo>
                <a:lnTo>
                  <a:pt x="4241723" y="0"/>
                </a:lnTo>
                <a:lnTo>
                  <a:pt x="4241723" y="740374"/>
                </a:lnTo>
                <a:lnTo>
                  <a:pt x="0" y="7403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DAGb6BWzFa0</dc:identifier>
  <dcterms:modified xsi:type="dcterms:W3CDTF">2011-08-01T06:04:30Z</dcterms:modified>
  <cp:revision>1</cp:revision>
  <dc:title>Tình huống 2</dc:title>
</cp:coreProperties>
</file>